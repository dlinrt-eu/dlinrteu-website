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products</c:v>
                </c:pt>
              </c:strCache>
            </c:strRef>
          </c:tx>
          <c:spPr>
            <a:solidFill>
              <a:srgbClr val="5090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2016</c:v>
                  </c:pt>
                  <c:pt idx="1">
                    <c:v>2017</c:v>
                  </c:pt>
                  <c:pt idx="2">
                    <c:v>2018</c:v>
                  </c:pt>
                  <c:pt idx="3">
                    <c:v>2019</c:v>
                  </c:pt>
                  <c:pt idx="4">
                    <c:v>2020</c:v>
                  </c:pt>
                  <c:pt idx="5">
                    <c:v>2021</c:v>
                  </c:pt>
                  <c:pt idx="6">
                    <c:v>2022</c:v>
                  </c:pt>
                  <c:pt idx="7">
                    <c:v>2023</c:v>
                  </c:pt>
                  <c:pt idx="8">
                    <c:v>2024</c:v>
                  </c:pt>
                  <c:pt idx="9">
                    <c:v>2025</c:v>
                  </c:pt>
                  <c:pt idx="10">
                    <c:v>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10</c:v>
                </c:pt>
                <c:pt idx="4">
                  <c:v>14</c:v>
                </c:pt>
                <c:pt idx="5">
                  <c:v>21</c:v>
                </c:pt>
                <c:pt idx="6">
                  <c:v>31</c:v>
                </c:pt>
                <c:pt idx="7">
                  <c:v>43</c:v>
                </c:pt>
                <c:pt idx="8">
                  <c:v>52</c:v>
                </c:pt>
                <c:pt idx="9">
                  <c:v>69</c:v>
                </c:pt>
                <c:pt idx="10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Category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090D0"/>
              </a:solidFill>
              <a:effectLst/>
            </c:spPr>
          </c:dPt>
          <c:dPt>
            <c:idx val="1"/>
            <c:bubble3D val="0"/>
            <c:spPr>
              <a:solidFill>
                <a:srgbClr val="1A1A2E"/>
              </a:solidFill>
              <a:effectLst/>
            </c:spPr>
          </c:dPt>
          <c:dPt>
            <c:idx val="2"/>
            <c:bubble3D val="0"/>
            <c:spPr>
              <a:solidFill>
                <a:srgbClr val="7DB9E8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bubble3D val="0"/>
            <c:spPr>
              <a:solidFill>
                <a:srgbClr val="EF4444"/>
              </a:solidFill>
              <a:effectLst/>
            </c:spPr>
          </c:dPt>
          <c:dPt>
            <c:idx val="6"/>
            <c:bubble3D val="0"/>
            <c:spPr>
              <a:solidFill>
                <a:srgbClr val="8B5CF6"/>
              </a:solidFill>
              <a:effectLst/>
            </c:spPr>
          </c:dPt>
          <c:dPt>
            <c:idx val="7"/>
            <c:bubble3D val="0"/>
            <c:spPr>
              <a:solidFill>
                <a:srgbClr val="0EA5E9"/>
              </a:solidFill>
              <a:effectLst/>
            </c:spPr>
          </c:dPt>
          <c:dPt>
            <c:idx val="8"/>
            <c:bubble3D val="0"/>
            <c:spPr>
              <a:solidFill>
                <a:srgbClr val="EC4899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Sheet1!$A$2:$A$10</c:f>
              <c:strCache>
                <c:ptCount val="9"/>
                <c:pt idx="0">
                  <c:v>Auto-Contouring</c:v>
                </c:pt>
                <c:pt idx="1">
                  <c:v>Image Enhancement</c:v>
                </c:pt>
                <c:pt idx="2">
                  <c:v>Reconstruction</c:v>
                </c:pt>
                <c:pt idx="3">
                  <c:v>Image Synthesis</c:v>
                </c:pt>
                <c:pt idx="4">
                  <c:v>Treatment Planning</c:v>
                </c:pt>
                <c:pt idx="5">
                  <c:v>Platform</c:v>
                </c:pt>
                <c:pt idx="6">
                  <c:v>Registration</c:v>
                </c:pt>
                <c:pt idx="7">
                  <c:v>Performance Monitor</c:v>
                </c:pt>
                <c:pt idx="8">
                  <c:v>Tracking</c:v>
                </c:pt>
              </c:strCache>
            </c:strRef>
          </c:cat>
          <c:val>
            <c:numRef>
              <c:f>Sheet1!$B$2:$B$10</c:f>
              <c:numCache>
                <c:ptCount val="9"/>
                <c:pt idx="0">
                  <c:v>33</c:v>
                </c:pt>
                <c:pt idx="1">
                  <c:v>14</c:v>
                </c:pt>
                <c:pt idx="2">
                  <c:v>13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  <c:pt idx="6">
                  <c:v>2</c:v>
                </c:pt>
                <c:pt idx="7">
                  <c:v>2</c:v>
                </c:pt>
                <c:pt idx="8">
                  <c:v>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400">
              <a:solidFill>
                <a:srgbClr val="1A1A2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image" Target="../media/image-4-17.png"/><Relationship Id="rId18" Type="http://schemas.openxmlformats.org/officeDocument/2006/relationships/image" Target="../media/image-4-18.png"/><Relationship Id="rId19" Type="http://schemas.openxmlformats.org/officeDocument/2006/relationships/image" Target="../media/image-4-19.png"/><Relationship Id="rId20" Type="http://schemas.openxmlformats.org/officeDocument/2006/relationships/image" Target="../media/image-4-20.png"/><Relationship Id="rId21" Type="http://schemas.openxmlformats.org/officeDocument/2006/relationships/image" Target="../media/image-4-21.png"/><Relationship Id="rId22" Type="http://schemas.openxmlformats.org/officeDocument/2006/relationships/image" Target="../media/image-4-22.jpg"/><Relationship Id="rId23" Type="http://schemas.openxmlformats.org/officeDocument/2006/relationships/image" Target="../media/image-4-23.png"/><Relationship Id="rId24" Type="http://schemas.openxmlformats.org/officeDocument/2006/relationships/image" Target="../media/image-4-24.png"/><Relationship Id="rId25" Type="http://schemas.openxmlformats.org/officeDocument/2006/relationships/image" Target="../media/image-4-25.png"/><Relationship Id="rId26" Type="http://schemas.openxmlformats.org/officeDocument/2006/relationships/image" Target="../media/image-4-26.jpg"/><Relationship Id="rId27" Type="http://schemas.openxmlformats.org/officeDocument/2006/relationships/image" Target="../media/image-4-27.png"/><Relationship Id="rId28" Type="http://schemas.openxmlformats.org/officeDocument/2006/relationships/image" Target="../media/image-4-28.jpg"/><Relationship Id="rId29" Type="http://schemas.openxmlformats.org/officeDocument/2006/relationships/image" Target="../media/image-4-29.jpg"/><Relationship Id="rId30" Type="http://schemas.openxmlformats.org/officeDocument/2006/relationships/image" Target="../media/image-4-30.jpg"/><Relationship Id="rId31" Type="http://schemas.openxmlformats.org/officeDocument/2006/relationships/image" Target="../media/image-4-31.jpg"/><Relationship Id="rId32" Type="http://schemas.openxmlformats.org/officeDocument/2006/relationships/image" Target="../media/image-4-32.jpg"/><Relationship Id="rId33" Type="http://schemas.openxmlformats.org/officeDocument/2006/relationships/image" Target="../media/image-4-33.png"/><Relationship Id="rId34" Type="http://schemas.openxmlformats.org/officeDocument/2006/relationships/image" Target="../media/image-4-34.jpg"/><Relationship Id="rId35" Type="http://schemas.openxmlformats.org/officeDocument/2006/relationships/image" Target="../media/image-4-35.png"/><Relationship Id="rId36" Type="http://schemas.openxmlformats.org/officeDocument/2006/relationships/image" Target="../media/image-4-36.png"/><Relationship Id="rId37" Type="http://schemas.openxmlformats.org/officeDocument/2006/relationships/image" Target="../media/image-4-37.png"/><Relationship Id="rId38" Type="http://schemas.openxmlformats.org/officeDocument/2006/relationships/image" Target="../media/image-4-38.png"/><Relationship Id="rId39" Type="http://schemas.openxmlformats.org/officeDocument/2006/relationships/image" Target="../media/image-4-39.png"/><Relationship Id="rId40" Type="http://schemas.openxmlformats.org/officeDocument/2006/relationships/image" Target="../media/image-4-40.png"/><Relationship Id="rId41" Type="http://schemas.openxmlformats.org/officeDocument/2006/relationships/image" Target="../media/image-4-41.jpg"/><Relationship Id="rId42" Type="http://schemas.openxmlformats.org/officeDocument/2006/relationships/image" Target="../media/image-4-42.jpg"/><Relationship Id="rId43" Type="http://schemas.openxmlformats.org/officeDocument/2006/relationships/slideLayout" Target="../slideLayouts/slideLayout1.xml"/><Relationship Id="rId4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DLinRT.eu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round complete · Evidence on 3 axes · Certification opens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65760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update — refreshed catalogue, new evidence system, first certified company, new reviewer, MAIRT @ MICCAI.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dlinrt.eu  ·  2026-06-16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products in the catalogue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declared product release dates · n = 88 products total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11094415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by primary category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88 products · primary category only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68580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863840" y="1463040"/>
            <a:ext cx="3840480" cy="493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Auto-Contouring: 33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Enhancement: 14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Reconstruction: 13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Synthesis: 9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Planning: 8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Platform: 6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Registration: 2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Monitor: 2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Tracking: 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in the DLinRT.eu catalogue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active companies</a:t>
            </a:r>
            <a:endParaRPr lang="en-US" sz="1300" dirty="0"/>
          </a:p>
        </p:txBody>
      </p:sp>
      <p:pic>
        <p:nvPicPr>
          <p:cNvPr id="4" name="Image 0" descr="public/logos/NeuralRad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" y="1298448"/>
            <a:ext cx="1417712" cy="4053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75488" y="17038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NeuralRad</a:t>
            </a:r>
            <a:endParaRPr lang="en-US" sz="900" dirty="0"/>
          </a:p>
        </p:txBody>
      </p:sp>
      <p:pic>
        <p:nvPicPr>
          <p:cNvPr id="6" name="Image 1" descr="public/logos/ai-medic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112656" y="1298448"/>
            <a:ext cx="1417712" cy="40538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112656" y="17038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Medical</a:t>
            </a:r>
            <a:endParaRPr lang="en-US" sz="900" dirty="0"/>
          </a:p>
        </p:txBody>
      </p:sp>
      <p:pic>
        <p:nvPicPr>
          <p:cNvPr id="8" name="Image 2" descr="public/logos/carin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749824" y="1298448"/>
            <a:ext cx="1417712" cy="40538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749824" y="17038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Carina AI</a:t>
            </a:r>
            <a:endParaRPr lang="en-US" sz="900" dirty="0"/>
          </a:p>
        </p:txBody>
      </p:sp>
      <p:pic>
        <p:nvPicPr>
          <p:cNvPr id="10" name="Image 3" descr="public/logos/coreline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86992" y="1298448"/>
            <a:ext cx="1417712" cy="40538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386992" y="17038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Coreline Soft Co</a:t>
            </a:r>
            <a:endParaRPr lang="en-US" sz="900" dirty="0"/>
          </a:p>
        </p:txBody>
      </p:sp>
      <p:pic>
        <p:nvPicPr>
          <p:cNvPr id="12" name="Image 4" descr="public/logos/ever-fortune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024160" y="1298448"/>
            <a:ext cx="1417712" cy="40538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7024160" y="17038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 Fortune AI</a:t>
            </a:r>
            <a:endParaRPr lang="en-US" sz="900" dirty="0"/>
          </a:p>
        </p:txBody>
      </p:sp>
      <p:pic>
        <p:nvPicPr>
          <p:cNvPr id="14" name="Image 5" descr="public/logos/huraimaging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661327" y="1298448"/>
            <a:ext cx="1417712" cy="405384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8661327" y="17038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Hura Imaging</a:t>
            </a:r>
            <a:endParaRPr lang="en-US" sz="900" dirty="0"/>
          </a:p>
        </p:txBody>
      </p:sp>
      <p:pic>
        <p:nvPicPr>
          <p:cNvPr id="16" name="Image 6" descr="public/logos/Limbus-ai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298495" y="1298448"/>
            <a:ext cx="1417712" cy="405384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0298495" y="17038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Limbus AI</a:t>
            </a:r>
            <a:endParaRPr lang="en-US" sz="900" dirty="0"/>
          </a:p>
        </p:txBody>
      </p:sp>
      <p:pic>
        <p:nvPicPr>
          <p:cNvPr id="18" name="Image 7" descr="public/logos/manteia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475488" y="2197608"/>
            <a:ext cx="1417712" cy="405384"/>
          </a:xfrm>
          <a:prstGeom prst="rect">
            <a:avLst/>
          </a:prstGeom>
        </p:spPr>
      </p:pic>
      <p:sp>
        <p:nvSpPr>
          <p:cNvPr id="19" name="Text 9"/>
          <p:cNvSpPr/>
          <p:nvPr/>
        </p:nvSpPr>
        <p:spPr>
          <a:xfrm>
            <a:off x="475488" y="260299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Manteia</a:t>
            </a:r>
            <a:endParaRPr lang="en-US" sz="900" dirty="0"/>
          </a:p>
        </p:txBody>
      </p:sp>
      <p:pic>
        <p:nvPicPr>
          <p:cNvPr id="20" name="Image 8" descr="public/newsletters/2026-06/_logo-cache/mimsoftware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112656" y="2197608"/>
            <a:ext cx="1417712" cy="405384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2112656" y="260299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 Software</a:t>
            </a:r>
            <a:endParaRPr lang="en-US" sz="900" dirty="0"/>
          </a:p>
        </p:txBody>
      </p:sp>
      <p:pic>
        <p:nvPicPr>
          <p:cNvPr id="22" name="Image 9" descr="public/logos/mirada-medical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3749824" y="2197608"/>
            <a:ext cx="1417712" cy="405384"/>
          </a:xfrm>
          <a:prstGeom prst="rect">
            <a:avLst/>
          </a:prstGeom>
        </p:spPr>
      </p:pic>
      <p:sp>
        <p:nvSpPr>
          <p:cNvPr id="23" name="Text 11"/>
          <p:cNvSpPr/>
          <p:nvPr/>
        </p:nvSpPr>
        <p:spPr>
          <a:xfrm>
            <a:off x="3749824" y="260299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Mirada Medical</a:t>
            </a:r>
            <a:endParaRPr lang="en-US" sz="900" dirty="0"/>
          </a:p>
        </p:txBody>
      </p:sp>
      <p:pic>
        <p:nvPicPr>
          <p:cNvPr id="24" name="Image 10" descr="public/logos/mvision-ai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5386992" y="2197608"/>
            <a:ext cx="1417712" cy="405384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5386992" y="260299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MVision AI</a:t>
            </a:r>
            <a:endParaRPr lang="en-US" sz="900" dirty="0"/>
          </a:p>
        </p:txBody>
      </p:sp>
      <p:pic>
        <p:nvPicPr>
          <p:cNvPr id="26" name="Image 11" descr="public/newsletters/2026-06/_logo-cache/radformation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7024160" y="2197608"/>
            <a:ext cx="1417712" cy="405384"/>
          </a:xfrm>
          <a:prstGeom prst="rect">
            <a:avLst/>
          </a:prstGeom>
        </p:spPr>
      </p:pic>
      <p:sp>
        <p:nvSpPr>
          <p:cNvPr id="27" name="Text 13"/>
          <p:cNvSpPr/>
          <p:nvPr/>
        </p:nvSpPr>
        <p:spPr>
          <a:xfrm>
            <a:off x="7024160" y="260299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RadFormation</a:t>
            </a:r>
            <a:endParaRPr lang="en-US" sz="900" dirty="0"/>
          </a:p>
        </p:txBody>
      </p:sp>
      <p:pic>
        <p:nvPicPr>
          <p:cNvPr id="28" name="Image 12" descr="public/logos/synaptiq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8661327" y="2197608"/>
            <a:ext cx="1417712" cy="405384"/>
          </a:xfrm>
          <a:prstGeom prst="rect">
            <a:avLst/>
          </a:prstGeom>
        </p:spPr>
      </p:pic>
      <p:sp>
        <p:nvSpPr>
          <p:cNvPr id="29" name="Text 14"/>
          <p:cNvSpPr/>
          <p:nvPr/>
        </p:nvSpPr>
        <p:spPr>
          <a:xfrm>
            <a:off x="8661327" y="260299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Synaptiq</a:t>
            </a:r>
            <a:endParaRPr lang="en-US" sz="900" dirty="0"/>
          </a:p>
        </p:txBody>
      </p:sp>
      <p:pic>
        <p:nvPicPr>
          <p:cNvPr id="30" name="Image 13" descr="public/logos/therapanacea.pn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10298495" y="2197608"/>
            <a:ext cx="1417712" cy="405384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10298495" y="260299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Therapanacea</a:t>
            </a:r>
            <a:endParaRPr lang="en-US" sz="900" dirty="0"/>
          </a:p>
        </p:txBody>
      </p:sp>
      <p:pic>
        <p:nvPicPr>
          <p:cNvPr id="32" name="Image 14" descr="public/logos/vysioner.pn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475488" y="3096768"/>
            <a:ext cx="1417712" cy="405384"/>
          </a:xfrm>
          <a:prstGeom prst="rect">
            <a:avLst/>
          </a:prstGeom>
        </p:spPr>
      </p:pic>
      <p:sp>
        <p:nvSpPr>
          <p:cNvPr id="33" name="Text 16"/>
          <p:cNvSpPr/>
          <p:nvPr/>
        </p:nvSpPr>
        <p:spPr>
          <a:xfrm>
            <a:off x="475488" y="350215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Vysioner</a:t>
            </a:r>
            <a:endParaRPr lang="en-US" sz="900" dirty="0"/>
          </a:p>
        </p:txBody>
      </p:sp>
      <p:pic>
        <p:nvPicPr>
          <p:cNvPr id="34" name="Image 15" descr="public/logos/wisdom-tech.pn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2112656" y="3096768"/>
            <a:ext cx="1417712" cy="405384"/>
          </a:xfrm>
          <a:prstGeom prst="rect">
            <a:avLst/>
          </a:prstGeom>
        </p:spPr>
      </p:pic>
      <p:sp>
        <p:nvSpPr>
          <p:cNvPr id="35" name="Text 17"/>
          <p:cNvSpPr/>
          <p:nvPr/>
        </p:nvSpPr>
        <p:spPr>
          <a:xfrm>
            <a:off x="2112656" y="350215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Tech</a:t>
            </a:r>
            <a:endParaRPr lang="en-US" sz="900" dirty="0"/>
          </a:p>
        </p:txBody>
      </p:sp>
      <p:pic>
        <p:nvPicPr>
          <p:cNvPr id="36" name="Image 16" descr="public/logos/oncosoft.pn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3749824" y="3096768"/>
            <a:ext cx="1417712" cy="405384"/>
          </a:xfrm>
          <a:prstGeom prst="rect">
            <a:avLst/>
          </a:prstGeom>
        </p:spPr>
      </p:pic>
      <p:sp>
        <p:nvSpPr>
          <p:cNvPr id="37" name="Text 18"/>
          <p:cNvSpPr/>
          <p:nvPr/>
        </p:nvSpPr>
        <p:spPr>
          <a:xfrm>
            <a:off x="3749824" y="350215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Oncosoft</a:t>
            </a:r>
            <a:endParaRPr lang="en-US" sz="900" dirty="0"/>
          </a:p>
        </p:txBody>
      </p:sp>
      <p:pic>
        <p:nvPicPr>
          <p:cNvPr id="38" name="Image 17" descr="public/logos/medcom.png">    </p:cNvPr>
          <p:cNvPicPr>
            <a:picLocks noChangeAspect="1"/>
          </p:cNvPicPr>
          <p:nvPr/>
        </p:nvPicPr>
        <p:blipFill>
          <a:blip r:embed="rId18"/>
          <a:srcRect l="0" r="0" t="0" b="0"/>
          <a:stretch/>
        </p:blipFill>
        <p:spPr>
          <a:xfrm>
            <a:off x="5386992" y="3096768"/>
            <a:ext cx="1417712" cy="405384"/>
          </a:xfrm>
          <a:prstGeom prst="rect">
            <a:avLst/>
          </a:prstGeom>
        </p:spPr>
      </p:pic>
      <p:sp>
        <p:nvSpPr>
          <p:cNvPr id="39" name="Text 19"/>
          <p:cNvSpPr/>
          <p:nvPr/>
        </p:nvSpPr>
        <p:spPr>
          <a:xfrm>
            <a:off x="5386992" y="350215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MedCom</a:t>
            </a:r>
            <a:endParaRPr lang="en-US" sz="900" dirty="0"/>
          </a:p>
        </p:txBody>
      </p:sp>
      <p:pic>
        <p:nvPicPr>
          <p:cNvPr id="40" name="Image 18" descr="public/logos/ge_healthcare.png">    </p:cNvPr>
          <p:cNvPicPr>
            <a:picLocks noChangeAspect="1"/>
          </p:cNvPicPr>
          <p:nvPr/>
        </p:nvPicPr>
        <p:blipFill>
          <a:blip r:embed="rId19"/>
          <a:srcRect l="0" r="0" t="0" b="0"/>
          <a:stretch/>
        </p:blipFill>
        <p:spPr>
          <a:xfrm>
            <a:off x="7024160" y="3096768"/>
            <a:ext cx="1417712" cy="405384"/>
          </a:xfrm>
          <a:prstGeom prst="rect">
            <a:avLst/>
          </a:prstGeom>
        </p:spPr>
      </p:pic>
      <p:sp>
        <p:nvSpPr>
          <p:cNvPr id="41" name="Text 20"/>
          <p:cNvSpPr/>
          <p:nvPr/>
        </p:nvSpPr>
        <p:spPr>
          <a:xfrm>
            <a:off x="7024160" y="350215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 Healthcare</a:t>
            </a:r>
            <a:endParaRPr lang="en-US" sz="900" dirty="0"/>
          </a:p>
        </p:txBody>
      </p:sp>
      <p:pic>
        <p:nvPicPr>
          <p:cNvPr id="42" name="Image 19" descr="public/logos/philips.png">    </p:cNvPr>
          <p:cNvPicPr>
            <a:picLocks noChangeAspect="1"/>
          </p:cNvPicPr>
          <p:nvPr/>
        </p:nvPicPr>
        <p:blipFill>
          <a:blip r:embed="rId20"/>
          <a:srcRect l="0" r="0" t="0" b="0"/>
          <a:stretch/>
        </p:blipFill>
        <p:spPr>
          <a:xfrm>
            <a:off x="8661327" y="3096768"/>
            <a:ext cx="1417712" cy="405384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8661327" y="350215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Philips</a:t>
            </a:r>
            <a:endParaRPr lang="en-US" sz="900" dirty="0"/>
          </a:p>
        </p:txBody>
      </p:sp>
      <p:pic>
        <p:nvPicPr>
          <p:cNvPr id="44" name="Image 20" descr="public/logos/siemens.png">    </p:cNvPr>
          <p:cNvPicPr>
            <a:picLocks noChangeAspect="1"/>
          </p:cNvPicPr>
          <p:nvPr/>
        </p:nvPicPr>
        <p:blipFill>
          <a:blip r:embed="rId21"/>
          <a:srcRect l="0" r="0" t="0" b="0"/>
          <a:stretch/>
        </p:blipFill>
        <p:spPr>
          <a:xfrm>
            <a:off x="10298495" y="3096768"/>
            <a:ext cx="1417712" cy="405384"/>
          </a:xfrm>
          <a:prstGeom prst="rect">
            <a:avLst/>
          </a:prstGeom>
        </p:spPr>
      </p:pic>
      <p:sp>
        <p:nvSpPr>
          <p:cNvPr id="45" name="Text 22"/>
          <p:cNvSpPr/>
          <p:nvPr/>
        </p:nvSpPr>
        <p:spPr>
          <a:xfrm>
            <a:off x="10298495" y="350215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Siemens Healthineers</a:t>
            </a:r>
            <a:endParaRPr lang="en-US" sz="900" dirty="0"/>
          </a:p>
        </p:txBody>
      </p:sp>
      <p:pic>
        <p:nvPicPr>
          <p:cNvPr id="46" name="Image 21" descr="public/logos/canon.jpg">    </p:cNvPr>
          <p:cNvPicPr>
            <a:picLocks noChangeAspect="1"/>
          </p:cNvPicPr>
          <p:nvPr/>
        </p:nvPicPr>
        <p:blipFill>
          <a:blip r:embed="rId22"/>
          <a:srcRect l="0" r="0" t="0" b="0"/>
          <a:stretch/>
        </p:blipFill>
        <p:spPr>
          <a:xfrm>
            <a:off x="475488" y="3995928"/>
            <a:ext cx="1417712" cy="405384"/>
          </a:xfrm>
          <a:prstGeom prst="rect">
            <a:avLst/>
          </a:prstGeom>
        </p:spPr>
      </p:pic>
      <p:sp>
        <p:nvSpPr>
          <p:cNvPr id="47" name="Text 23"/>
          <p:cNvSpPr/>
          <p:nvPr/>
        </p:nvSpPr>
        <p:spPr>
          <a:xfrm>
            <a:off x="475488" y="440131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 Medical Systems</a:t>
            </a:r>
            <a:endParaRPr lang="en-US" sz="900" dirty="0"/>
          </a:p>
        </p:txBody>
      </p:sp>
      <p:pic>
        <p:nvPicPr>
          <p:cNvPr id="48" name="Image 22" descr="public/logos/unitedimaging.png">    </p:cNvPr>
          <p:cNvPicPr>
            <a:picLocks noChangeAspect="1"/>
          </p:cNvPicPr>
          <p:nvPr/>
        </p:nvPicPr>
        <p:blipFill>
          <a:blip r:embed="rId23"/>
          <a:srcRect l="0" r="0" t="0" b="0"/>
          <a:stretch/>
        </p:blipFill>
        <p:spPr>
          <a:xfrm>
            <a:off x="2112656" y="3995928"/>
            <a:ext cx="1417712" cy="405384"/>
          </a:xfrm>
          <a:prstGeom prst="rect">
            <a:avLst/>
          </a:prstGeom>
        </p:spPr>
      </p:pic>
      <p:sp>
        <p:nvSpPr>
          <p:cNvPr id="49" name="Text 24"/>
          <p:cNvSpPr/>
          <p:nvPr/>
        </p:nvSpPr>
        <p:spPr>
          <a:xfrm>
            <a:off x="2112656" y="440131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Imaging</a:t>
            </a:r>
            <a:endParaRPr lang="en-US" sz="900" dirty="0"/>
          </a:p>
        </p:txBody>
      </p:sp>
      <p:pic>
        <p:nvPicPr>
          <p:cNvPr id="50" name="Image 23" descr="public/newsletters/2026-06/_logo-cache/Taiwan_MedImag.png">    </p:cNvPr>
          <p:cNvPicPr>
            <a:picLocks noChangeAspect="1"/>
          </p:cNvPicPr>
          <p:nvPr/>
        </p:nvPicPr>
        <p:blipFill>
          <a:blip r:embed="rId24"/>
          <a:srcRect l="0" r="0" t="0" b="0"/>
          <a:stretch/>
        </p:blipFill>
        <p:spPr>
          <a:xfrm>
            <a:off x="3749824" y="3995928"/>
            <a:ext cx="1417712" cy="405384"/>
          </a:xfrm>
          <a:prstGeom prst="rect">
            <a:avLst/>
          </a:prstGeom>
        </p:spPr>
      </p:pic>
      <p:sp>
        <p:nvSpPr>
          <p:cNvPr id="51" name="Text 25"/>
          <p:cNvSpPr/>
          <p:nvPr/>
        </p:nvSpPr>
        <p:spPr>
          <a:xfrm>
            <a:off x="3749824" y="440131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Taiwan Medical Imaging Co.</a:t>
            </a:r>
            <a:endParaRPr lang="en-US" sz="900" dirty="0"/>
          </a:p>
        </p:txBody>
      </p:sp>
      <p:pic>
        <p:nvPicPr>
          <p:cNvPr id="52" name="Image 24" descr="public/logos/algomedica.png">    </p:cNvPr>
          <p:cNvPicPr>
            <a:picLocks noChangeAspect="1"/>
          </p:cNvPicPr>
          <p:nvPr/>
        </p:nvPicPr>
        <p:blipFill>
          <a:blip r:embed="rId25"/>
          <a:srcRect l="0" r="0" t="0" b="0"/>
          <a:stretch/>
        </p:blipFill>
        <p:spPr>
          <a:xfrm>
            <a:off x="5386992" y="3995928"/>
            <a:ext cx="1417712" cy="405384"/>
          </a:xfrm>
          <a:prstGeom prst="rect">
            <a:avLst/>
          </a:prstGeom>
        </p:spPr>
      </p:pic>
      <p:sp>
        <p:nvSpPr>
          <p:cNvPr id="53" name="Text 26"/>
          <p:cNvSpPr/>
          <p:nvPr/>
        </p:nvSpPr>
        <p:spPr>
          <a:xfrm>
            <a:off x="5386992" y="440131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AlgoMedica</a:t>
            </a:r>
            <a:endParaRPr lang="en-US" sz="900" dirty="0"/>
          </a:p>
        </p:txBody>
      </p:sp>
      <p:pic>
        <p:nvPicPr>
          <p:cNvPr id="54" name="Image 25" descr="public/logos/spectronic-medical.jpg">    </p:cNvPr>
          <p:cNvPicPr>
            <a:picLocks noChangeAspect="1"/>
          </p:cNvPicPr>
          <p:nvPr/>
        </p:nvPicPr>
        <p:blipFill>
          <a:blip r:embed="rId26"/>
          <a:srcRect l="0" r="0" t="0" b="0"/>
          <a:stretch/>
        </p:blipFill>
        <p:spPr>
          <a:xfrm>
            <a:off x="7024160" y="3995928"/>
            <a:ext cx="1417712" cy="405384"/>
          </a:xfrm>
          <a:prstGeom prst="rect">
            <a:avLst/>
          </a:prstGeom>
        </p:spPr>
      </p:pic>
      <p:sp>
        <p:nvSpPr>
          <p:cNvPr id="55" name="Text 27"/>
          <p:cNvSpPr/>
          <p:nvPr/>
        </p:nvSpPr>
        <p:spPr>
          <a:xfrm>
            <a:off x="7024160" y="440131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Spectronic Medical</a:t>
            </a:r>
            <a:endParaRPr lang="en-US" sz="900" dirty="0"/>
          </a:p>
        </p:txBody>
      </p:sp>
      <p:pic>
        <p:nvPicPr>
          <p:cNvPr id="56" name="Image 26" descr="public/logos/syntheticMRI.png">    </p:cNvPr>
          <p:cNvPicPr>
            <a:picLocks noChangeAspect="1"/>
          </p:cNvPicPr>
          <p:nvPr/>
        </p:nvPicPr>
        <p:blipFill>
          <a:blip r:embed="rId27"/>
          <a:srcRect l="0" r="0" t="0" b="0"/>
          <a:stretch/>
        </p:blipFill>
        <p:spPr>
          <a:xfrm>
            <a:off x="8661327" y="3995928"/>
            <a:ext cx="1417712" cy="405384"/>
          </a:xfrm>
          <a:prstGeom prst="rect">
            <a:avLst/>
          </a:prstGeom>
        </p:spPr>
      </p:pic>
      <p:sp>
        <p:nvSpPr>
          <p:cNvPr id="57" name="Text 28"/>
          <p:cNvSpPr/>
          <p:nvPr/>
        </p:nvSpPr>
        <p:spPr>
          <a:xfrm>
            <a:off x="8661327" y="440131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SyntheticMR</a:t>
            </a:r>
            <a:endParaRPr lang="en-US" sz="900" dirty="0"/>
          </a:p>
        </p:txBody>
      </p:sp>
      <p:pic>
        <p:nvPicPr>
          <p:cNvPr id="58" name="Image 27" descr="public/logos/raystation.jpg">    </p:cNvPr>
          <p:cNvPicPr>
            <a:picLocks noChangeAspect="1"/>
          </p:cNvPicPr>
          <p:nvPr/>
        </p:nvPicPr>
        <p:blipFill>
          <a:blip r:embed="rId28"/>
          <a:srcRect l="0" r="0" t="0" b="0"/>
          <a:stretch/>
        </p:blipFill>
        <p:spPr>
          <a:xfrm>
            <a:off x="10298495" y="3995928"/>
            <a:ext cx="1417712" cy="405384"/>
          </a:xfrm>
          <a:prstGeom prst="rect">
            <a:avLst/>
          </a:prstGeom>
        </p:spPr>
      </p:pic>
      <p:sp>
        <p:nvSpPr>
          <p:cNvPr id="59" name="Text 29"/>
          <p:cNvSpPr/>
          <p:nvPr/>
        </p:nvSpPr>
        <p:spPr>
          <a:xfrm>
            <a:off x="10298495" y="440131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RaySearch Laboratories</a:t>
            </a:r>
            <a:endParaRPr lang="en-US" sz="900" dirty="0"/>
          </a:p>
        </p:txBody>
      </p:sp>
      <p:pic>
        <p:nvPicPr>
          <p:cNvPr id="60" name="Image 28" descr="public/logos/airs.jpg">    </p:cNvPr>
          <p:cNvPicPr>
            <a:picLocks noChangeAspect="1"/>
          </p:cNvPicPr>
          <p:nvPr/>
        </p:nvPicPr>
        <p:blipFill>
          <a:blip r:embed="rId29"/>
          <a:srcRect l="0" r="0" t="0" b="0"/>
          <a:stretch/>
        </p:blipFill>
        <p:spPr>
          <a:xfrm>
            <a:off x="475488" y="4895088"/>
            <a:ext cx="1417712" cy="405384"/>
          </a:xfrm>
          <a:prstGeom prst="rect">
            <a:avLst/>
          </a:prstGeom>
        </p:spPr>
      </p:pic>
      <p:sp>
        <p:nvSpPr>
          <p:cNvPr id="61" name="Text 30"/>
          <p:cNvSpPr/>
          <p:nvPr/>
        </p:nvSpPr>
        <p:spPr>
          <a:xfrm>
            <a:off x="475488" y="5300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 Medical</a:t>
            </a:r>
            <a:endParaRPr lang="en-US" sz="900" dirty="0"/>
          </a:p>
        </p:txBody>
      </p:sp>
      <p:pic>
        <p:nvPicPr>
          <p:cNvPr id="62" name="Image 29" descr="public/logos/claripi.jpg">    </p:cNvPr>
          <p:cNvPicPr>
            <a:picLocks noChangeAspect="1"/>
          </p:cNvPicPr>
          <p:nvPr/>
        </p:nvPicPr>
        <p:blipFill>
          <a:blip r:embed="rId30"/>
          <a:srcRect l="0" r="0" t="0" b="0"/>
          <a:stretch/>
        </p:blipFill>
        <p:spPr>
          <a:xfrm>
            <a:off x="2112656" y="4895088"/>
            <a:ext cx="1417712" cy="405384"/>
          </a:xfrm>
          <a:prstGeom prst="rect">
            <a:avLst/>
          </a:prstGeom>
        </p:spPr>
      </p:pic>
      <p:sp>
        <p:nvSpPr>
          <p:cNvPr id="63" name="Text 31"/>
          <p:cNvSpPr/>
          <p:nvPr/>
        </p:nvSpPr>
        <p:spPr>
          <a:xfrm>
            <a:off x="2112656" y="5300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ClariPi</a:t>
            </a:r>
            <a:endParaRPr lang="en-US" sz="900" dirty="0"/>
          </a:p>
        </p:txBody>
      </p:sp>
      <p:pic>
        <p:nvPicPr>
          <p:cNvPr id="64" name="Image 30" descr="public/logos/SubtleMedical.jpg">    </p:cNvPr>
          <p:cNvPicPr>
            <a:picLocks noChangeAspect="1"/>
          </p:cNvPicPr>
          <p:nvPr/>
        </p:nvPicPr>
        <p:blipFill>
          <a:blip r:embed="rId31"/>
          <a:srcRect l="0" r="0" t="0" b="0"/>
          <a:stretch/>
        </p:blipFill>
        <p:spPr>
          <a:xfrm>
            <a:off x="3749824" y="4895088"/>
            <a:ext cx="1417712" cy="405384"/>
          </a:xfrm>
          <a:prstGeom prst="rect">
            <a:avLst/>
          </a:prstGeom>
        </p:spPr>
      </p:pic>
      <p:sp>
        <p:nvSpPr>
          <p:cNvPr id="65" name="Text 32"/>
          <p:cNvSpPr/>
          <p:nvPr/>
        </p:nvSpPr>
        <p:spPr>
          <a:xfrm>
            <a:off x="3749824" y="5300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Subtle Medical</a:t>
            </a:r>
            <a:endParaRPr lang="en-US" sz="900" dirty="0"/>
          </a:p>
        </p:txBody>
      </p:sp>
      <p:pic>
        <p:nvPicPr>
          <p:cNvPr id="66" name="Image 31" descr="public/logos/ptw.jpg">    </p:cNvPr>
          <p:cNvPicPr>
            <a:picLocks noChangeAspect="1"/>
          </p:cNvPicPr>
          <p:nvPr/>
        </p:nvPicPr>
        <p:blipFill>
          <a:blip r:embed="rId32"/>
          <a:srcRect l="0" r="0" t="0" b="0"/>
          <a:stretch/>
        </p:blipFill>
        <p:spPr>
          <a:xfrm>
            <a:off x="5386992" y="4895088"/>
            <a:ext cx="1417712" cy="405384"/>
          </a:xfrm>
          <a:prstGeom prst="rect">
            <a:avLst/>
          </a:prstGeom>
        </p:spPr>
      </p:pic>
      <p:sp>
        <p:nvSpPr>
          <p:cNvPr id="67" name="Text 33"/>
          <p:cNvSpPr/>
          <p:nvPr/>
        </p:nvSpPr>
        <p:spPr>
          <a:xfrm>
            <a:off x="5386992" y="5300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PTW</a:t>
            </a:r>
            <a:endParaRPr lang="en-US" sz="900" dirty="0"/>
          </a:p>
        </p:txBody>
      </p:sp>
      <p:pic>
        <p:nvPicPr>
          <p:cNvPr id="68" name="Image 32" descr="public/logos/pymedix.png">    </p:cNvPr>
          <p:cNvPicPr>
            <a:picLocks noChangeAspect="1"/>
          </p:cNvPicPr>
          <p:nvPr/>
        </p:nvPicPr>
        <p:blipFill>
          <a:blip r:embed="rId33"/>
          <a:srcRect l="0" r="0" t="0" b="0"/>
          <a:stretch/>
        </p:blipFill>
        <p:spPr>
          <a:xfrm>
            <a:off x="7024160" y="4895088"/>
            <a:ext cx="1417712" cy="405384"/>
          </a:xfrm>
          <a:prstGeom prst="rect">
            <a:avLst/>
          </a:prstGeom>
        </p:spPr>
      </p:pic>
      <p:sp>
        <p:nvSpPr>
          <p:cNvPr id="69" name="Text 34"/>
          <p:cNvSpPr/>
          <p:nvPr/>
        </p:nvSpPr>
        <p:spPr>
          <a:xfrm>
            <a:off x="7024160" y="5300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PyMedix</a:t>
            </a:r>
            <a:endParaRPr lang="en-US" sz="900" dirty="0"/>
          </a:p>
        </p:txBody>
      </p:sp>
      <p:pic>
        <p:nvPicPr>
          <p:cNvPr id="70" name="Image 33" descr="public/logos/medlever.jpg">    </p:cNvPr>
          <p:cNvPicPr>
            <a:picLocks noChangeAspect="1"/>
          </p:cNvPicPr>
          <p:nvPr/>
        </p:nvPicPr>
        <p:blipFill>
          <a:blip r:embed="rId34"/>
          <a:srcRect l="0" r="0" t="0" b="0"/>
          <a:stretch/>
        </p:blipFill>
        <p:spPr>
          <a:xfrm>
            <a:off x="8661327" y="4895088"/>
            <a:ext cx="1417712" cy="405384"/>
          </a:xfrm>
          <a:prstGeom prst="rect">
            <a:avLst/>
          </a:prstGeom>
        </p:spPr>
      </p:pic>
      <p:sp>
        <p:nvSpPr>
          <p:cNvPr id="71" name="Text 35"/>
          <p:cNvSpPr/>
          <p:nvPr/>
        </p:nvSpPr>
        <p:spPr>
          <a:xfrm>
            <a:off x="8661327" y="5300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MedLever, Inc.</a:t>
            </a:r>
            <a:endParaRPr lang="en-US" sz="900" dirty="0"/>
          </a:p>
        </p:txBody>
      </p:sp>
      <p:pic>
        <p:nvPicPr>
          <p:cNvPr id="72" name="Image 34" descr="public/logos/medmind.png">    </p:cNvPr>
          <p:cNvPicPr>
            <a:picLocks noChangeAspect="1"/>
          </p:cNvPicPr>
          <p:nvPr/>
        </p:nvPicPr>
        <p:blipFill>
          <a:blip r:embed="rId35"/>
          <a:srcRect l="0" r="0" t="0" b="0"/>
          <a:stretch/>
        </p:blipFill>
        <p:spPr>
          <a:xfrm>
            <a:off x="10298495" y="4895088"/>
            <a:ext cx="1417712" cy="405384"/>
          </a:xfrm>
          <a:prstGeom prst="rect">
            <a:avLst/>
          </a:prstGeom>
        </p:spPr>
      </p:pic>
      <p:sp>
        <p:nvSpPr>
          <p:cNvPr id="73" name="Text 36"/>
          <p:cNvSpPr/>
          <p:nvPr/>
        </p:nvSpPr>
        <p:spPr>
          <a:xfrm>
            <a:off x="10298495" y="5300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MedMind Technology Co., Ltd.</a:t>
            </a:r>
            <a:endParaRPr lang="en-US" sz="900" dirty="0"/>
          </a:p>
        </p:txBody>
      </p:sp>
      <p:pic>
        <p:nvPicPr>
          <p:cNvPr id="74" name="Image 35" descr="public/logos/quanta-computer.png">    </p:cNvPr>
          <p:cNvPicPr>
            <a:picLocks noChangeAspect="1"/>
          </p:cNvPicPr>
          <p:nvPr/>
        </p:nvPicPr>
        <p:blipFill>
          <a:blip r:embed="rId36"/>
          <a:srcRect l="0" r="0" t="0" b="0"/>
          <a:stretch/>
        </p:blipFill>
        <p:spPr>
          <a:xfrm>
            <a:off x="475488" y="5794248"/>
            <a:ext cx="1417712" cy="405384"/>
          </a:xfrm>
          <a:prstGeom prst="rect">
            <a:avLst/>
          </a:prstGeom>
        </p:spPr>
      </p:pic>
      <p:sp>
        <p:nvSpPr>
          <p:cNvPr id="75" name="Text 37"/>
          <p:cNvSpPr/>
          <p:nvPr/>
        </p:nvSpPr>
        <p:spPr>
          <a:xfrm>
            <a:off x="475488" y="61996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Quanta Computer Inc.</a:t>
            </a:r>
            <a:endParaRPr lang="en-US" sz="900" dirty="0"/>
          </a:p>
        </p:txBody>
      </p:sp>
      <p:pic>
        <p:nvPicPr>
          <p:cNvPr id="76" name="Image 36" descr="public/logos/Elekta.png">    </p:cNvPr>
          <p:cNvPicPr>
            <a:picLocks noChangeAspect="1"/>
          </p:cNvPicPr>
          <p:nvPr/>
        </p:nvPicPr>
        <p:blipFill>
          <a:blip r:embed="rId37"/>
          <a:srcRect l="0" r="0" t="0" b="0"/>
          <a:stretch/>
        </p:blipFill>
        <p:spPr>
          <a:xfrm>
            <a:off x="2112656" y="5794248"/>
            <a:ext cx="1417712" cy="405384"/>
          </a:xfrm>
          <a:prstGeom prst="rect">
            <a:avLst/>
          </a:prstGeom>
        </p:spPr>
      </p:pic>
      <p:sp>
        <p:nvSpPr>
          <p:cNvPr id="77" name="Text 38"/>
          <p:cNvSpPr/>
          <p:nvPr/>
        </p:nvSpPr>
        <p:spPr>
          <a:xfrm>
            <a:off x="2112656" y="61996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Elekta</a:t>
            </a:r>
            <a:endParaRPr lang="en-US" sz="900" dirty="0"/>
          </a:p>
        </p:txBody>
      </p:sp>
      <p:pic>
        <p:nvPicPr>
          <p:cNvPr id="78" name="Image 37" descr="public/logos/accuray.png">    </p:cNvPr>
          <p:cNvPicPr>
            <a:picLocks noChangeAspect="1"/>
          </p:cNvPicPr>
          <p:nvPr/>
        </p:nvPicPr>
        <p:blipFill>
          <a:blip r:embed="rId38"/>
          <a:srcRect l="0" r="0" t="0" b="0"/>
          <a:stretch/>
        </p:blipFill>
        <p:spPr>
          <a:xfrm>
            <a:off x="3749824" y="5794248"/>
            <a:ext cx="1417712" cy="405384"/>
          </a:xfrm>
          <a:prstGeom prst="rect">
            <a:avLst/>
          </a:prstGeom>
        </p:spPr>
      </p:pic>
      <p:sp>
        <p:nvSpPr>
          <p:cNvPr id="79" name="Text 39"/>
          <p:cNvSpPr/>
          <p:nvPr/>
        </p:nvSpPr>
        <p:spPr>
          <a:xfrm>
            <a:off x="3749824" y="61996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Accuray®</a:t>
            </a:r>
            <a:endParaRPr lang="en-US" sz="900" dirty="0"/>
          </a:p>
        </p:txBody>
      </p:sp>
      <p:pic>
        <p:nvPicPr>
          <p:cNvPr id="80" name="Image 38" descr="public/logos/SunNuclear.png">    </p:cNvPr>
          <p:cNvPicPr>
            <a:picLocks noChangeAspect="1"/>
          </p:cNvPicPr>
          <p:nvPr/>
        </p:nvPicPr>
        <p:blipFill>
          <a:blip r:embed="rId39"/>
          <a:srcRect l="0" r="0" t="0" b="0"/>
          <a:stretch/>
        </p:blipFill>
        <p:spPr>
          <a:xfrm>
            <a:off x="5386992" y="5794248"/>
            <a:ext cx="1417712" cy="405384"/>
          </a:xfrm>
          <a:prstGeom prst="rect">
            <a:avLst/>
          </a:prstGeom>
        </p:spPr>
      </p:pic>
      <p:sp>
        <p:nvSpPr>
          <p:cNvPr id="81" name="Text 40"/>
          <p:cNvSpPr/>
          <p:nvPr/>
        </p:nvSpPr>
        <p:spPr>
          <a:xfrm>
            <a:off x="5386992" y="61996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Nuclear (Mirion Medical)</a:t>
            </a:r>
            <a:endParaRPr lang="en-US" sz="900" dirty="0"/>
          </a:p>
        </p:txBody>
      </p:sp>
      <p:pic>
        <p:nvPicPr>
          <p:cNvPr id="82" name="Image 39" descr="public/newsletters/2026-06/_logo-cache/md_anderson.png">    </p:cNvPr>
          <p:cNvPicPr>
            <a:picLocks noChangeAspect="1"/>
          </p:cNvPicPr>
          <p:nvPr/>
        </p:nvPicPr>
        <p:blipFill>
          <a:blip r:embed="rId40"/>
          <a:srcRect l="0" r="0" t="0" b="0"/>
          <a:stretch/>
        </p:blipFill>
        <p:spPr>
          <a:xfrm>
            <a:off x="7024160" y="5794248"/>
            <a:ext cx="1417712" cy="405384"/>
          </a:xfrm>
          <a:prstGeom prst="rect">
            <a:avLst/>
          </a:prstGeom>
        </p:spPr>
      </p:pic>
      <p:sp>
        <p:nvSpPr>
          <p:cNvPr id="83" name="Text 41"/>
          <p:cNvSpPr/>
          <p:nvPr/>
        </p:nvSpPr>
        <p:spPr>
          <a:xfrm>
            <a:off x="7024160" y="61996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Anderson Cancer Center</a:t>
            </a:r>
            <a:endParaRPr lang="en-US" sz="900" dirty="0"/>
          </a:p>
        </p:txBody>
      </p:sp>
      <p:pic>
        <p:nvPicPr>
          <p:cNvPr id="84" name="Image 40" descr="public/logos/Brainlab.jpg">    </p:cNvPr>
          <p:cNvPicPr>
            <a:picLocks noChangeAspect="1"/>
          </p:cNvPicPr>
          <p:nvPr/>
        </p:nvPicPr>
        <p:blipFill>
          <a:blip r:embed="rId41"/>
          <a:srcRect l="0" r="0" t="0" b="0"/>
          <a:stretch/>
        </p:blipFill>
        <p:spPr>
          <a:xfrm>
            <a:off x="8661327" y="5794248"/>
            <a:ext cx="1417712" cy="405384"/>
          </a:xfrm>
          <a:prstGeom prst="rect">
            <a:avLst/>
          </a:prstGeom>
        </p:spPr>
      </p:pic>
      <p:sp>
        <p:nvSpPr>
          <p:cNvPr id="85" name="Text 42"/>
          <p:cNvSpPr/>
          <p:nvPr/>
        </p:nvSpPr>
        <p:spPr>
          <a:xfrm>
            <a:off x="8661327" y="61996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Brainlab</a:t>
            </a:r>
            <a:endParaRPr lang="en-US" sz="900" dirty="0"/>
          </a:p>
        </p:txBody>
      </p:sp>
      <p:pic>
        <p:nvPicPr>
          <p:cNvPr id="86" name="Image 41" descr="public/logos/varian.jpg">    </p:cNvPr>
          <p:cNvPicPr>
            <a:picLocks noChangeAspect="1"/>
          </p:cNvPicPr>
          <p:nvPr/>
        </p:nvPicPr>
        <p:blipFill>
          <a:blip r:embed="rId42"/>
          <a:srcRect l="0" r="0" t="0" b="0"/>
          <a:stretch/>
        </p:blipFill>
        <p:spPr>
          <a:xfrm>
            <a:off x="10298495" y="5794248"/>
            <a:ext cx="1417712" cy="405384"/>
          </a:xfrm>
          <a:prstGeom prst="rect">
            <a:avLst/>
          </a:prstGeom>
        </p:spPr>
      </p:pic>
      <p:sp>
        <p:nvSpPr>
          <p:cNvPr id="87" name="Text 43"/>
          <p:cNvSpPr/>
          <p:nvPr/>
        </p:nvSpPr>
        <p:spPr>
          <a:xfrm>
            <a:off x="10298495" y="619963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 (Siemens Healthineers)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&amp; Transparency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UMC Utrecht backs the platform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91153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the Radiotherapy Medical Physics Traineeship, UMC Utrecht has agreed to cover the running costs of DLinRT.eu — safeguarding the independence and continuity of the initiative. A huge thank you to the Radiotherapy Department for this support.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costs, in the open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384048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publish our running costs and will keep them up to date at dlinrt.eu/transparency.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484632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Errare humanum est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5303520"/>
            <a:ext cx="1091153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strive for accuracy and, alongside the AI tooling, we still value human revision. If you spot an imprecision or error, please reach out — we will take action.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round opens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115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Manufacturers can now certify their product listings. Synaptiq — first certified, two CE-marked products. Congratulations.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MAIRT @ MICCAI · Oct 1, 2026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109115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fully dedicated radiotherapy satellite event at MICCAI, Strasbourg. miart-workshop.github.io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84048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review round · Nov 1 → Dec 15, 2026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251960"/>
            <a:ext cx="109115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looking for more reviewers — many hands make the workload lighter.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07492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Szabolcs David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5486400"/>
            <a:ext cx="109115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reviewer on board. Thanks to all 12 reviewers — full list on dlinrt.eu/about.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2026-06-16T20:15:32Z</dcterms:created>
  <dcterms:modified xsi:type="dcterms:W3CDTF">2026-06-16T20:15:32Z</dcterms:modified>
</cp:coreProperties>
</file>