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jp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jpg"/><Relationship Id="rId24" Type="http://schemas.openxmlformats.org/officeDocument/2006/relationships/image" Target="../media/image-4-24.png"/><Relationship Id="rId25" Type="http://schemas.openxmlformats.org/officeDocument/2006/relationships/image" Target="../media/image-4-25.jpg"/><Relationship Id="rId26" Type="http://schemas.openxmlformats.org/officeDocument/2006/relationships/image" Target="../media/image-4-26.jpg"/><Relationship Id="rId27" Type="http://schemas.openxmlformats.org/officeDocument/2006/relationships/image" Target="../media/image-4-27.jpg"/><Relationship Id="rId28" Type="http://schemas.openxmlformats.org/officeDocument/2006/relationships/image" Target="../media/image-4-28.jpg"/><Relationship Id="rId29" Type="http://schemas.openxmlformats.org/officeDocument/2006/relationships/image" Target="../media/image-4-29.jpg"/><Relationship Id="rId30" Type="http://schemas.openxmlformats.org/officeDocument/2006/relationships/image" Target="../media/image-4-30.png"/><Relationship Id="rId31" Type="http://schemas.openxmlformats.org/officeDocument/2006/relationships/image" Target="../media/image-4-31.jpg"/><Relationship Id="rId32" Type="http://schemas.openxmlformats.org/officeDocument/2006/relationships/image" Target="../media/image-4-32.png"/><Relationship Id="rId33" Type="http://schemas.openxmlformats.org/officeDocument/2006/relationships/image" Target="../media/image-4-33.png"/><Relationship Id="rId34" Type="http://schemas.openxmlformats.org/officeDocument/2006/relationships/image" Target="../media/image-4-34.png"/><Relationship Id="rId35" Type="http://schemas.openxmlformats.org/officeDocument/2006/relationships/image" Target="../media/image-4-35.png"/><Relationship Id="rId36" Type="http://schemas.openxmlformats.org/officeDocument/2006/relationships/image" Target="../media/image-4-36.png"/><Relationship Id="rId37" Type="http://schemas.openxmlformats.org/officeDocument/2006/relationships/image" Target="../media/image-4-37.jpg"/><Relationship Id="rId38" Type="http://schemas.openxmlformats.org/officeDocument/2006/relationships/image" Target="../media/image-4-38.jp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 ·  2026-06-16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Auto-Contouring: 33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Enhancement: 14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13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Synthesis: 9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Planning: 8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6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2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Monitor: 2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</a:t>
            </a:r>
            <a:endParaRPr lang="en-US" sz="1300" dirty="0"/>
          </a:p>
        </p:txBody>
      </p:sp>
      <p:pic>
        <p:nvPicPr>
          <p:cNvPr id="4" name="Image 0" descr="public/logos/NeuralRad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" y="1298448"/>
            <a:ext cx="1417712" cy="4053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12656" y="1298448"/>
            <a:ext cx="1417712" cy="4053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824" y="1298448"/>
            <a:ext cx="1417712" cy="4053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86992" y="1298448"/>
            <a:ext cx="1417712" cy="40538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024160" y="1298448"/>
            <a:ext cx="1417712" cy="40538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61327" y="1298448"/>
            <a:ext cx="1417712" cy="40538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98495" y="1298448"/>
            <a:ext cx="1417712" cy="40538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75488" y="2197608"/>
            <a:ext cx="1417712" cy="40538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Manteia</a:t>
            </a:r>
            <a:endParaRPr lang="en-US" sz="900" dirty="0"/>
          </a:p>
        </p:txBody>
      </p:sp>
      <p:sp>
        <p:nvSpPr>
          <p:cNvPr id="20" name="Shape 10"/>
          <p:cNvSpPr/>
          <p:nvPr/>
        </p:nvSpPr>
        <p:spPr>
          <a:xfrm>
            <a:off x="2112656" y="219760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1"/>
          <p:cNvSpPr/>
          <p:nvPr/>
        </p:nvSpPr>
        <p:spPr>
          <a:xfrm>
            <a:off x="2112656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 Software</a:t>
            </a:r>
            <a:endParaRPr lang="en-US" sz="900" dirty="0"/>
          </a:p>
        </p:txBody>
      </p:sp>
      <p:pic>
        <p:nvPicPr>
          <p:cNvPr id="22" name="Image 8" descr="public/logos/mirada-medical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749824" y="2197608"/>
            <a:ext cx="1417712" cy="405384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3749824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Mirada Medical</a:t>
            </a:r>
            <a:endParaRPr lang="en-US" sz="900" dirty="0"/>
          </a:p>
        </p:txBody>
      </p:sp>
      <p:pic>
        <p:nvPicPr>
          <p:cNvPr id="24" name="Image 9" descr="public/logos/mvision-ai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5386992" y="2197608"/>
            <a:ext cx="1417712" cy="405384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5386992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MVision AI</a:t>
            </a:r>
            <a:endParaRPr lang="en-US" sz="900" dirty="0"/>
          </a:p>
        </p:txBody>
      </p:sp>
      <p:sp>
        <p:nvSpPr>
          <p:cNvPr id="26" name="Shape 14"/>
          <p:cNvSpPr/>
          <p:nvPr/>
        </p:nvSpPr>
        <p:spPr>
          <a:xfrm>
            <a:off x="7024160" y="219760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7024160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RadFormation</a:t>
            </a:r>
            <a:endParaRPr lang="en-US" sz="900" dirty="0"/>
          </a:p>
        </p:txBody>
      </p:sp>
      <p:pic>
        <p:nvPicPr>
          <p:cNvPr id="28" name="Image 10" descr="public/logos/synaptiq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661327" y="2197608"/>
            <a:ext cx="1417712" cy="405384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8661327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Synaptiq</a:t>
            </a:r>
            <a:endParaRPr lang="en-US" sz="900" dirty="0"/>
          </a:p>
        </p:txBody>
      </p:sp>
      <p:pic>
        <p:nvPicPr>
          <p:cNvPr id="30" name="Image 11" descr="public/logos/therapanacea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298495" y="2197608"/>
            <a:ext cx="1417712" cy="405384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10298495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Therapanacea</a:t>
            </a:r>
            <a:endParaRPr lang="en-US" sz="900" dirty="0"/>
          </a:p>
        </p:txBody>
      </p:sp>
      <p:pic>
        <p:nvPicPr>
          <p:cNvPr id="32" name="Image 12" descr="public/logos/vysione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75488" y="3096768"/>
            <a:ext cx="1417712" cy="405384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475488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Vysioner</a:t>
            </a:r>
            <a:endParaRPr lang="en-US" sz="900" dirty="0"/>
          </a:p>
        </p:txBody>
      </p:sp>
      <p:pic>
        <p:nvPicPr>
          <p:cNvPr id="34" name="Image 13" descr="public/logos/wisdom-tech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2112656" y="3096768"/>
            <a:ext cx="1417712" cy="405384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2112656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Tech</a:t>
            </a:r>
            <a:endParaRPr lang="en-US" sz="900" dirty="0"/>
          </a:p>
        </p:txBody>
      </p:sp>
      <p:pic>
        <p:nvPicPr>
          <p:cNvPr id="36" name="Image 14" descr="public/logos/oncosoft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3749824" y="3096768"/>
            <a:ext cx="1417712" cy="405384"/>
          </a:xfrm>
          <a:prstGeom prst="rect">
            <a:avLst/>
          </a:prstGeom>
        </p:spPr>
      </p:pic>
      <p:sp>
        <p:nvSpPr>
          <p:cNvPr id="37" name="Text 20"/>
          <p:cNvSpPr/>
          <p:nvPr/>
        </p:nvSpPr>
        <p:spPr>
          <a:xfrm>
            <a:off x="3749824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Oncosoft</a:t>
            </a:r>
            <a:endParaRPr lang="en-US" sz="900" dirty="0"/>
          </a:p>
        </p:txBody>
      </p:sp>
      <p:pic>
        <p:nvPicPr>
          <p:cNvPr id="38" name="Image 15" descr="public/logos/medcom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5386992" y="3096768"/>
            <a:ext cx="1417712" cy="405384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5386992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MedCom</a:t>
            </a:r>
            <a:endParaRPr lang="en-US" sz="900" dirty="0"/>
          </a:p>
        </p:txBody>
      </p:sp>
      <p:pic>
        <p:nvPicPr>
          <p:cNvPr id="40" name="Image 16" descr="public/logos/ge_healthcare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7024160" y="3096768"/>
            <a:ext cx="1417712" cy="405384"/>
          </a:xfrm>
          <a:prstGeom prst="rect">
            <a:avLst/>
          </a:prstGeom>
        </p:spPr>
      </p:pic>
      <p:sp>
        <p:nvSpPr>
          <p:cNvPr id="41" name="Text 22"/>
          <p:cNvSpPr/>
          <p:nvPr/>
        </p:nvSpPr>
        <p:spPr>
          <a:xfrm>
            <a:off x="7024160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Healthcare</a:t>
            </a:r>
            <a:endParaRPr lang="en-US" sz="900" dirty="0"/>
          </a:p>
        </p:txBody>
      </p:sp>
      <p:pic>
        <p:nvPicPr>
          <p:cNvPr id="42" name="Image 17" descr="public/logos/philips.pn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8661327" y="3096768"/>
            <a:ext cx="1417712" cy="405384"/>
          </a:xfrm>
          <a:prstGeom prst="rect">
            <a:avLst/>
          </a:prstGeom>
        </p:spPr>
      </p:pic>
      <p:sp>
        <p:nvSpPr>
          <p:cNvPr id="43" name="Text 23"/>
          <p:cNvSpPr/>
          <p:nvPr/>
        </p:nvSpPr>
        <p:spPr>
          <a:xfrm>
            <a:off x="8661327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</a:t>
            </a:r>
            <a:endParaRPr lang="en-US" sz="900" dirty="0"/>
          </a:p>
        </p:txBody>
      </p:sp>
      <p:pic>
        <p:nvPicPr>
          <p:cNvPr id="44" name="Image 18" descr="public/logos/siemens.pn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10298495" y="3096768"/>
            <a:ext cx="1417712" cy="405384"/>
          </a:xfrm>
          <a:prstGeom prst="rect">
            <a:avLst/>
          </a:prstGeom>
        </p:spPr>
      </p:pic>
      <p:sp>
        <p:nvSpPr>
          <p:cNvPr id="45" name="Text 24"/>
          <p:cNvSpPr/>
          <p:nvPr/>
        </p:nvSpPr>
        <p:spPr>
          <a:xfrm>
            <a:off x="10298495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Healthineers</a:t>
            </a:r>
            <a:endParaRPr lang="en-US" sz="900" dirty="0"/>
          </a:p>
        </p:txBody>
      </p:sp>
      <p:pic>
        <p:nvPicPr>
          <p:cNvPr id="46" name="Image 19" descr="public/logos/canon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475488" y="3995928"/>
            <a:ext cx="1417712" cy="405384"/>
          </a:xfrm>
          <a:prstGeom prst="rect">
            <a:avLst/>
          </a:prstGeom>
        </p:spPr>
      </p:pic>
      <p:sp>
        <p:nvSpPr>
          <p:cNvPr id="47" name="Text 25"/>
          <p:cNvSpPr/>
          <p:nvPr/>
        </p:nvSpPr>
        <p:spPr>
          <a:xfrm>
            <a:off x="475488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 Medical Systems</a:t>
            </a:r>
            <a:endParaRPr lang="en-US" sz="900" dirty="0"/>
          </a:p>
        </p:txBody>
      </p:sp>
      <p:pic>
        <p:nvPicPr>
          <p:cNvPr id="48" name="Image 20" descr="public/logos/unitedimaging.pn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2112656" y="3995928"/>
            <a:ext cx="1417712" cy="405384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2112656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Imaging</a:t>
            </a:r>
            <a:endParaRPr lang="en-US" sz="900" dirty="0"/>
          </a:p>
        </p:txBody>
      </p:sp>
      <p:sp>
        <p:nvSpPr>
          <p:cNvPr id="50" name="Shape 27"/>
          <p:cNvSpPr/>
          <p:nvPr/>
        </p:nvSpPr>
        <p:spPr>
          <a:xfrm>
            <a:off x="3749824" y="399592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28"/>
          <p:cNvSpPr/>
          <p:nvPr/>
        </p:nvSpPr>
        <p:spPr>
          <a:xfrm>
            <a:off x="3749824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1" descr="public/logos/algomedica.png">    </p:cNvPr>
          <p:cNvPicPr>
            <a:picLocks noChangeAspect="1"/>
          </p:cNvPicPr>
          <p:nvPr/>
        </p:nvPicPr>
        <p:blipFill>
          <a:blip r:embed="rId22"/>
          <a:srcRect l="0" r="0" t="0" b="0"/>
          <a:stretch/>
        </p:blipFill>
        <p:spPr>
          <a:xfrm>
            <a:off x="5386992" y="3995928"/>
            <a:ext cx="1417712" cy="405384"/>
          </a:xfrm>
          <a:prstGeom prst="rect">
            <a:avLst/>
          </a:prstGeom>
        </p:spPr>
      </p:pic>
      <p:sp>
        <p:nvSpPr>
          <p:cNvPr id="53" name="Text 29"/>
          <p:cNvSpPr/>
          <p:nvPr/>
        </p:nvSpPr>
        <p:spPr>
          <a:xfrm>
            <a:off x="5386992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AlgoMedica</a:t>
            </a:r>
            <a:endParaRPr lang="en-US" sz="900" dirty="0"/>
          </a:p>
        </p:txBody>
      </p:sp>
      <p:pic>
        <p:nvPicPr>
          <p:cNvPr id="54" name="Image 22" descr="public/logos/spectronic-medical.jpg">    </p:cNvPr>
          <p:cNvPicPr>
            <a:picLocks noChangeAspect="1"/>
          </p:cNvPicPr>
          <p:nvPr/>
        </p:nvPicPr>
        <p:blipFill>
          <a:blip r:embed="rId23"/>
          <a:srcRect l="0" r="0" t="0" b="0"/>
          <a:stretch/>
        </p:blipFill>
        <p:spPr>
          <a:xfrm>
            <a:off x="7024160" y="3995928"/>
            <a:ext cx="1417712" cy="405384"/>
          </a:xfrm>
          <a:prstGeom prst="rect">
            <a:avLst/>
          </a:prstGeom>
        </p:spPr>
      </p:pic>
      <p:sp>
        <p:nvSpPr>
          <p:cNvPr id="55" name="Text 30"/>
          <p:cNvSpPr/>
          <p:nvPr/>
        </p:nvSpPr>
        <p:spPr>
          <a:xfrm>
            <a:off x="7024160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Spectronic Medical</a:t>
            </a:r>
            <a:endParaRPr lang="en-US" sz="900" dirty="0"/>
          </a:p>
        </p:txBody>
      </p:sp>
      <p:pic>
        <p:nvPicPr>
          <p:cNvPr id="56" name="Image 23" descr="public/logos/syntheticMRI.png">    </p:cNvPr>
          <p:cNvPicPr>
            <a:picLocks noChangeAspect="1"/>
          </p:cNvPicPr>
          <p:nvPr/>
        </p:nvPicPr>
        <p:blipFill>
          <a:blip r:embed="rId24"/>
          <a:srcRect l="0" r="0" t="0" b="0"/>
          <a:stretch/>
        </p:blipFill>
        <p:spPr>
          <a:xfrm>
            <a:off x="8661327" y="3995928"/>
            <a:ext cx="1417712" cy="405384"/>
          </a:xfrm>
          <a:prstGeom prst="rect">
            <a:avLst/>
          </a:prstGeom>
        </p:spPr>
      </p:pic>
      <p:sp>
        <p:nvSpPr>
          <p:cNvPr id="57" name="Text 31"/>
          <p:cNvSpPr/>
          <p:nvPr/>
        </p:nvSpPr>
        <p:spPr>
          <a:xfrm>
            <a:off x="8661327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SyntheticMR</a:t>
            </a:r>
            <a:endParaRPr lang="en-US" sz="900" dirty="0"/>
          </a:p>
        </p:txBody>
      </p:sp>
      <p:pic>
        <p:nvPicPr>
          <p:cNvPr id="58" name="Image 24" descr="public/logos/raystation.jpg">    </p:cNvPr>
          <p:cNvPicPr>
            <a:picLocks noChangeAspect="1"/>
          </p:cNvPicPr>
          <p:nvPr/>
        </p:nvPicPr>
        <p:blipFill>
          <a:blip r:embed="rId25"/>
          <a:srcRect l="0" r="0" t="0" b="0"/>
          <a:stretch/>
        </p:blipFill>
        <p:spPr>
          <a:xfrm>
            <a:off x="10298495" y="3995928"/>
            <a:ext cx="1417712" cy="405384"/>
          </a:xfrm>
          <a:prstGeom prst="rect">
            <a:avLst/>
          </a:prstGeom>
        </p:spPr>
      </p:pic>
      <p:sp>
        <p:nvSpPr>
          <p:cNvPr id="59" name="Text 32"/>
          <p:cNvSpPr/>
          <p:nvPr/>
        </p:nvSpPr>
        <p:spPr>
          <a:xfrm>
            <a:off x="10298495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RaySearch Laboratories</a:t>
            </a:r>
            <a:endParaRPr lang="en-US" sz="900" dirty="0"/>
          </a:p>
        </p:txBody>
      </p:sp>
      <p:pic>
        <p:nvPicPr>
          <p:cNvPr id="60" name="Image 25" descr="public/logos/airs.jpg">    </p:cNvPr>
          <p:cNvPicPr>
            <a:picLocks noChangeAspect="1"/>
          </p:cNvPicPr>
          <p:nvPr/>
        </p:nvPicPr>
        <p:blipFill>
          <a:blip r:embed="rId26"/>
          <a:srcRect l="0" r="0" t="0" b="0"/>
          <a:stretch/>
        </p:blipFill>
        <p:spPr>
          <a:xfrm>
            <a:off x="475488" y="4895088"/>
            <a:ext cx="1417712" cy="405384"/>
          </a:xfrm>
          <a:prstGeom prst="rect">
            <a:avLst/>
          </a:prstGeom>
        </p:spPr>
      </p:pic>
      <p:sp>
        <p:nvSpPr>
          <p:cNvPr id="61" name="Text 33"/>
          <p:cNvSpPr/>
          <p:nvPr/>
        </p:nvSpPr>
        <p:spPr>
          <a:xfrm>
            <a:off x="475488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 Medical</a:t>
            </a:r>
            <a:endParaRPr lang="en-US" sz="900" dirty="0"/>
          </a:p>
        </p:txBody>
      </p:sp>
      <p:pic>
        <p:nvPicPr>
          <p:cNvPr id="62" name="Image 26" descr="public/logos/claripi.jpg">    </p:cNvPr>
          <p:cNvPicPr>
            <a:picLocks noChangeAspect="1"/>
          </p:cNvPicPr>
          <p:nvPr/>
        </p:nvPicPr>
        <p:blipFill>
          <a:blip r:embed="rId27"/>
          <a:srcRect l="0" r="0" t="0" b="0"/>
          <a:stretch/>
        </p:blipFill>
        <p:spPr>
          <a:xfrm>
            <a:off x="2112656" y="4895088"/>
            <a:ext cx="1417712" cy="405384"/>
          </a:xfrm>
          <a:prstGeom prst="rect">
            <a:avLst/>
          </a:prstGeom>
        </p:spPr>
      </p:pic>
      <p:sp>
        <p:nvSpPr>
          <p:cNvPr id="63" name="Text 34"/>
          <p:cNvSpPr/>
          <p:nvPr/>
        </p:nvSpPr>
        <p:spPr>
          <a:xfrm>
            <a:off x="2112656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ClariPi</a:t>
            </a:r>
            <a:endParaRPr lang="en-US" sz="900" dirty="0"/>
          </a:p>
        </p:txBody>
      </p:sp>
      <p:pic>
        <p:nvPicPr>
          <p:cNvPr id="64" name="Image 27" descr="public/logos/SubtleMedical.jpg">    </p:cNvPr>
          <p:cNvPicPr>
            <a:picLocks noChangeAspect="1"/>
          </p:cNvPicPr>
          <p:nvPr/>
        </p:nvPicPr>
        <p:blipFill>
          <a:blip r:embed="rId28"/>
          <a:srcRect l="0" r="0" t="0" b="0"/>
          <a:stretch/>
        </p:blipFill>
        <p:spPr>
          <a:xfrm>
            <a:off x="3749824" y="4895088"/>
            <a:ext cx="1417712" cy="405384"/>
          </a:xfrm>
          <a:prstGeom prst="rect">
            <a:avLst/>
          </a:prstGeom>
        </p:spPr>
      </p:pic>
      <p:sp>
        <p:nvSpPr>
          <p:cNvPr id="65" name="Text 35"/>
          <p:cNvSpPr/>
          <p:nvPr/>
        </p:nvSpPr>
        <p:spPr>
          <a:xfrm>
            <a:off x="3749824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Medical</a:t>
            </a:r>
            <a:endParaRPr lang="en-US" sz="900" dirty="0"/>
          </a:p>
        </p:txBody>
      </p:sp>
      <p:pic>
        <p:nvPicPr>
          <p:cNvPr id="66" name="Image 28" descr="public/logos/ptw.jpg">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5386992" y="4895088"/>
            <a:ext cx="1417712" cy="405384"/>
          </a:xfrm>
          <a:prstGeom prst="rect">
            <a:avLst/>
          </a:prstGeom>
        </p:spPr>
      </p:pic>
      <p:sp>
        <p:nvSpPr>
          <p:cNvPr id="67" name="Text 36"/>
          <p:cNvSpPr/>
          <p:nvPr/>
        </p:nvSpPr>
        <p:spPr>
          <a:xfrm>
            <a:off x="5386992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PTW</a:t>
            </a:r>
            <a:endParaRPr lang="en-US" sz="900" dirty="0"/>
          </a:p>
        </p:txBody>
      </p:sp>
      <p:pic>
        <p:nvPicPr>
          <p:cNvPr id="68" name="Image 29" descr="public/logos/pymedix.png">    </p:cNvPr>
          <p:cNvPicPr>
            <a:picLocks noChangeAspect="1"/>
          </p:cNvPicPr>
          <p:nvPr/>
        </p:nvPicPr>
        <p:blipFill>
          <a:blip r:embed="rId30"/>
          <a:srcRect l="0" r="0" t="0" b="0"/>
          <a:stretch/>
        </p:blipFill>
        <p:spPr>
          <a:xfrm>
            <a:off x="7024160" y="4895088"/>
            <a:ext cx="1417712" cy="405384"/>
          </a:xfrm>
          <a:prstGeom prst="rect">
            <a:avLst/>
          </a:prstGeom>
        </p:spPr>
      </p:pic>
      <p:sp>
        <p:nvSpPr>
          <p:cNvPr id="69" name="Text 37"/>
          <p:cNvSpPr/>
          <p:nvPr/>
        </p:nvSpPr>
        <p:spPr>
          <a:xfrm>
            <a:off x="7024160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PyMedix</a:t>
            </a:r>
            <a:endParaRPr lang="en-US" sz="900" dirty="0"/>
          </a:p>
        </p:txBody>
      </p:sp>
      <p:pic>
        <p:nvPicPr>
          <p:cNvPr id="70" name="Image 30" descr="public/logos/medlever.jpg">    </p:cNvPr>
          <p:cNvPicPr>
            <a:picLocks noChangeAspect="1"/>
          </p:cNvPicPr>
          <p:nvPr/>
        </p:nvPicPr>
        <p:blipFill>
          <a:blip r:embed="rId31"/>
          <a:srcRect l="0" r="0" t="0" b="0"/>
          <a:stretch/>
        </p:blipFill>
        <p:spPr>
          <a:xfrm>
            <a:off x="8661327" y="4895088"/>
            <a:ext cx="1417712" cy="405384"/>
          </a:xfrm>
          <a:prstGeom prst="rect">
            <a:avLst/>
          </a:prstGeom>
        </p:spPr>
      </p:pic>
      <p:sp>
        <p:nvSpPr>
          <p:cNvPr id="71" name="Text 38"/>
          <p:cNvSpPr/>
          <p:nvPr/>
        </p:nvSpPr>
        <p:spPr>
          <a:xfrm>
            <a:off x="8661327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MedLever, Inc.</a:t>
            </a:r>
            <a:endParaRPr lang="en-US" sz="900" dirty="0"/>
          </a:p>
        </p:txBody>
      </p:sp>
      <p:pic>
        <p:nvPicPr>
          <p:cNvPr id="72" name="Image 31" descr="public/logos/medmind.png">    </p:cNvPr>
          <p:cNvPicPr>
            <a:picLocks noChangeAspect="1"/>
          </p:cNvPicPr>
          <p:nvPr/>
        </p:nvPicPr>
        <p:blipFill>
          <a:blip r:embed="rId32"/>
          <a:srcRect l="0" r="0" t="0" b="0"/>
          <a:stretch/>
        </p:blipFill>
        <p:spPr>
          <a:xfrm>
            <a:off x="10298495" y="4895088"/>
            <a:ext cx="1417712" cy="405384"/>
          </a:xfrm>
          <a:prstGeom prst="rect">
            <a:avLst/>
          </a:prstGeom>
        </p:spPr>
      </p:pic>
      <p:sp>
        <p:nvSpPr>
          <p:cNvPr id="73" name="Text 39"/>
          <p:cNvSpPr/>
          <p:nvPr/>
        </p:nvSpPr>
        <p:spPr>
          <a:xfrm>
            <a:off x="10298495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2" descr="public/logos/quanta-computer.png">    </p:cNvPr>
          <p:cNvPicPr>
            <a:picLocks noChangeAspect="1"/>
          </p:cNvPicPr>
          <p:nvPr/>
        </p:nvPicPr>
        <p:blipFill>
          <a:blip r:embed="rId33"/>
          <a:srcRect l="0" r="0" t="0" b="0"/>
          <a:stretch/>
        </p:blipFill>
        <p:spPr>
          <a:xfrm>
            <a:off x="475488" y="5794248"/>
            <a:ext cx="1417712" cy="405384"/>
          </a:xfrm>
          <a:prstGeom prst="rect">
            <a:avLst/>
          </a:prstGeom>
        </p:spPr>
      </p:pic>
      <p:sp>
        <p:nvSpPr>
          <p:cNvPr id="75" name="Text 40"/>
          <p:cNvSpPr/>
          <p:nvPr/>
        </p:nvSpPr>
        <p:spPr>
          <a:xfrm>
            <a:off x="475488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Computer Inc.</a:t>
            </a:r>
            <a:endParaRPr lang="en-US" sz="900" dirty="0"/>
          </a:p>
        </p:txBody>
      </p:sp>
      <p:pic>
        <p:nvPicPr>
          <p:cNvPr id="76" name="Image 33" descr="public/logos/Elekta.png">    </p:cNvPr>
          <p:cNvPicPr>
            <a:picLocks noChangeAspect="1"/>
          </p:cNvPicPr>
          <p:nvPr/>
        </p:nvPicPr>
        <p:blipFill>
          <a:blip r:embed="rId34"/>
          <a:srcRect l="0" r="0" t="0" b="0"/>
          <a:stretch/>
        </p:blipFill>
        <p:spPr>
          <a:xfrm>
            <a:off x="2112656" y="5794248"/>
            <a:ext cx="1417712" cy="405384"/>
          </a:xfrm>
          <a:prstGeom prst="rect">
            <a:avLst/>
          </a:prstGeom>
        </p:spPr>
      </p:pic>
      <p:sp>
        <p:nvSpPr>
          <p:cNvPr id="77" name="Text 41"/>
          <p:cNvSpPr/>
          <p:nvPr/>
        </p:nvSpPr>
        <p:spPr>
          <a:xfrm>
            <a:off x="2112656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Elekta</a:t>
            </a:r>
            <a:endParaRPr lang="en-US" sz="900" dirty="0"/>
          </a:p>
        </p:txBody>
      </p:sp>
      <p:pic>
        <p:nvPicPr>
          <p:cNvPr id="78" name="Image 34" descr="public/logos/accuray.png">    </p:cNvPr>
          <p:cNvPicPr>
            <a:picLocks noChangeAspect="1"/>
          </p:cNvPicPr>
          <p:nvPr/>
        </p:nvPicPr>
        <p:blipFill>
          <a:blip r:embed="rId35"/>
          <a:srcRect l="0" r="0" t="0" b="0"/>
          <a:stretch/>
        </p:blipFill>
        <p:spPr>
          <a:xfrm>
            <a:off x="3749824" y="5794248"/>
            <a:ext cx="1417712" cy="405384"/>
          </a:xfrm>
          <a:prstGeom prst="rect">
            <a:avLst/>
          </a:prstGeom>
        </p:spPr>
      </p:pic>
      <p:sp>
        <p:nvSpPr>
          <p:cNvPr id="79" name="Text 42"/>
          <p:cNvSpPr/>
          <p:nvPr/>
        </p:nvSpPr>
        <p:spPr>
          <a:xfrm>
            <a:off x="3749824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Accuray®</a:t>
            </a:r>
            <a:endParaRPr lang="en-US" sz="900" dirty="0"/>
          </a:p>
        </p:txBody>
      </p:sp>
      <p:pic>
        <p:nvPicPr>
          <p:cNvPr id="80" name="Image 35" descr="public/logos/SunNuclear.png">    </p:cNvPr>
          <p:cNvPicPr>
            <a:picLocks noChangeAspect="1"/>
          </p:cNvPicPr>
          <p:nvPr/>
        </p:nvPicPr>
        <p:blipFill>
          <a:blip r:embed="rId36"/>
          <a:srcRect l="0" r="0" t="0" b="0"/>
          <a:stretch/>
        </p:blipFill>
        <p:spPr>
          <a:xfrm>
            <a:off x="5386992" y="5794248"/>
            <a:ext cx="1417712" cy="405384"/>
          </a:xfrm>
          <a:prstGeom prst="rect">
            <a:avLst/>
          </a:prstGeom>
        </p:spPr>
      </p:pic>
      <p:sp>
        <p:nvSpPr>
          <p:cNvPr id="81" name="Text 43"/>
          <p:cNvSpPr/>
          <p:nvPr/>
        </p:nvSpPr>
        <p:spPr>
          <a:xfrm>
            <a:off x="5386992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Nuclear (Mirion Medical)</a:t>
            </a:r>
            <a:endParaRPr lang="en-US" sz="900" dirty="0"/>
          </a:p>
        </p:txBody>
      </p:sp>
      <p:sp>
        <p:nvSpPr>
          <p:cNvPr id="82" name="Shape 44"/>
          <p:cNvSpPr/>
          <p:nvPr/>
        </p:nvSpPr>
        <p:spPr>
          <a:xfrm>
            <a:off x="7024160" y="579424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3" name="Text 45"/>
          <p:cNvSpPr/>
          <p:nvPr/>
        </p:nvSpPr>
        <p:spPr>
          <a:xfrm>
            <a:off x="7024160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Anderson Cancer Center</a:t>
            </a:r>
            <a:endParaRPr lang="en-US" sz="900" dirty="0"/>
          </a:p>
        </p:txBody>
      </p:sp>
      <p:pic>
        <p:nvPicPr>
          <p:cNvPr id="84" name="Image 36" descr="public/logos/Brainlab.jpg">    </p:cNvPr>
          <p:cNvPicPr>
            <a:picLocks noChangeAspect="1"/>
          </p:cNvPicPr>
          <p:nvPr/>
        </p:nvPicPr>
        <p:blipFill>
          <a:blip r:embed="rId37"/>
          <a:srcRect l="0" r="0" t="0" b="0"/>
          <a:stretch/>
        </p:blipFill>
        <p:spPr>
          <a:xfrm>
            <a:off x="8661327" y="5794248"/>
            <a:ext cx="1417712" cy="405384"/>
          </a:xfrm>
          <a:prstGeom prst="rect">
            <a:avLst/>
          </a:prstGeom>
        </p:spPr>
      </p:pic>
      <p:sp>
        <p:nvSpPr>
          <p:cNvPr id="85" name="Text 46"/>
          <p:cNvSpPr/>
          <p:nvPr/>
        </p:nvSpPr>
        <p:spPr>
          <a:xfrm>
            <a:off x="8661327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Brainlab</a:t>
            </a:r>
            <a:endParaRPr lang="en-US" sz="900" dirty="0"/>
          </a:p>
        </p:txBody>
      </p:sp>
      <p:pic>
        <p:nvPicPr>
          <p:cNvPr id="86" name="Image 37" descr="public/logos/varian.jpg">    </p:cNvPr>
          <p:cNvPicPr>
            <a:picLocks noChangeAspect="1"/>
          </p:cNvPicPr>
          <p:nvPr/>
        </p:nvPicPr>
        <p:blipFill>
          <a:blip r:embed="rId38"/>
          <a:srcRect l="0" r="0" t="0" b="0"/>
          <a:stretch/>
        </p:blipFill>
        <p:spPr>
          <a:xfrm>
            <a:off x="10298495" y="5794248"/>
            <a:ext cx="1417712" cy="405384"/>
          </a:xfrm>
          <a:prstGeom prst="rect">
            <a:avLst/>
          </a:prstGeom>
        </p:spPr>
      </p:pic>
      <p:sp>
        <p:nvSpPr>
          <p:cNvPr id="87" name="Text 47"/>
          <p:cNvSpPr/>
          <p:nvPr/>
        </p:nvSpPr>
        <p:spPr>
          <a:xfrm>
            <a:off x="10298495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(Siemens Healthineers)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Certification round opens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Synaptiq — first certified, two CE-marked products. Congratulations.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MAIRT @ MICCAI · Oct 1, 2026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miart-workshop.github.io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Next review round · Nov 1 → Dec 15, 2026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Welcome Szabolcs David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reviewer on board. Thanks to all 12 reviewers — full list on dlinrt.eu/about.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2026-06-16T20:01:19Z</dcterms:created>
  <dcterms:modified xsi:type="dcterms:W3CDTF">2026-06-16T20:01:19Z</dcterms:modified>
</cp:coreProperties>
</file>