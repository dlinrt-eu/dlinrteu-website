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21</c:v>
                </c:pt>
                <c:pt idx="6">
                  <c:v>31</c:v>
                </c:pt>
                <c:pt idx="7">
                  <c:v>43</c:v>
                </c:pt>
                <c:pt idx="8">
                  <c:v>52</c:v>
                </c:pt>
                <c:pt idx="9">
                  <c:v>69</c:v>
                </c:pt>
                <c:pt idx="10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Auto-Contouring</c:v>
                </c:pt>
                <c:pt idx="1">
                  <c:v>Image Enhancement</c:v>
                </c:pt>
                <c:pt idx="2">
                  <c:v>Reconstruction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33</c:v>
                </c:pt>
                <c:pt idx="1">
                  <c:v>14</c:v>
                </c:pt>
                <c:pt idx="2">
                  <c:v>13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" TargetMode="External"/><Relationship Id="rId3" Type="http://schemas.openxmlformats.org/officeDocument/2006/relationships/hyperlink" Target="https://dlinrt.eu" TargetMode="External"/><Relationship Id="rId4" Type="http://schemas.openxmlformats.org/officeDocument/2006/relationships/hyperlink" Target="https://creativecommons.org/licenses/by/4.0/" TargetMode="External"/><Relationship Id="rId6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1-1.png"/><Relationship Id="rId5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4" Type="http://schemas.openxmlformats.org/officeDocument/2006/relationships/hyperlink" Target="https://dlinrt.eu" TargetMode="External"/><Relationship Id="rId5" Type="http://schemas.openxmlformats.org/officeDocument/2006/relationships/hyperlink" Target="https://creativecommons.org/licenses/by/4.0/" TargetMode="External"/><Relationship Id="rId7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1.xml"/><Relationship Id="rId3" Type="http://schemas.openxmlformats.org/officeDocument/2006/relationships/image" Target="../media/image-2-1.png"/><Relationship Id="rId6" Type="http://schemas.openxmlformats.org/officeDocument/2006/relationships/image" Target="../media/image-2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3" Type="http://schemas.openxmlformats.org/officeDocument/2006/relationships/hyperlink" Target="https://dlinrt.eu/products?category=Auto-Contouring" TargetMode="External"/><Relationship Id="rId4" Type="http://schemas.openxmlformats.org/officeDocument/2006/relationships/hyperlink" Target="https://dlinrt.eu/products?category=Image%20Enhancement" TargetMode="External"/><Relationship Id="rId5" Type="http://schemas.openxmlformats.org/officeDocument/2006/relationships/hyperlink" Target="https://dlinrt.eu/products?category=Reconstruction" TargetMode="External"/><Relationship Id="rId6" Type="http://schemas.openxmlformats.org/officeDocument/2006/relationships/hyperlink" Target="https://dlinrt.eu/products?category=Image%20Synthesis" TargetMode="External"/><Relationship Id="rId7" Type="http://schemas.openxmlformats.org/officeDocument/2006/relationships/hyperlink" Target="https://dlinrt.eu/products?category=Treatment%20Planning" TargetMode="External"/><Relationship Id="rId8" Type="http://schemas.openxmlformats.org/officeDocument/2006/relationships/hyperlink" Target="https://dlinrt.eu/products?category=Platform" TargetMode="External"/><Relationship Id="rId9" Type="http://schemas.openxmlformats.org/officeDocument/2006/relationships/hyperlink" Target="https://dlinrt.eu/products?category=Registration" TargetMode="External"/><Relationship Id="rId10" Type="http://schemas.openxmlformats.org/officeDocument/2006/relationships/hyperlink" Target="https://dlinrt.eu/products?category=Performance%20Monitor" TargetMode="External"/><Relationship Id="rId11" Type="http://schemas.openxmlformats.org/officeDocument/2006/relationships/hyperlink" Target="https://dlinrt.eu/products?category=Tracking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2.xml"/><Relationship Id="rId12" Type="http://schemas.openxmlformats.org/officeDocument/2006/relationships/image" Target="../media/image-3-1.png"/><Relationship Id="rId15" Type="http://schemas.openxmlformats.org/officeDocument/2006/relationships/image" Target="../media/image-3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companies" TargetMode="External"/><Relationship Id="rId3" Type="http://schemas.openxmlformats.org/officeDocument/2006/relationships/hyperlink" Target="https://dlinrt.eu/companies/neuralrad" TargetMode="External"/><Relationship Id="rId4" Type="http://schemas.openxmlformats.org/officeDocument/2006/relationships/hyperlink" Target="https://dlinrt.eu/companies/neuralrad" TargetMode="External"/><Relationship Id="rId6" Type="http://schemas.openxmlformats.org/officeDocument/2006/relationships/hyperlink" Target="https://dlinrt.eu/companies/ai-medical" TargetMode="External"/><Relationship Id="rId7" Type="http://schemas.openxmlformats.org/officeDocument/2006/relationships/hyperlink" Target="https://dlinrt.eu/companies/ai-medical" TargetMode="External"/><Relationship Id="rId9" Type="http://schemas.openxmlformats.org/officeDocument/2006/relationships/hyperlink" Target="https://dlinrt.eu/companies/carina-ai" TargetMode="External"/><Relationship Id="rId10" Type="http://schemas.openxmlformats.org/officeDocument/2006/relationships/hyperlink" Target="https://dlinrt.eu/companies/carina-ai" TargetMode="External"/><Relationship Id="rId12" Type="http://schemas.openxmlformats.org/officeDocument/2006/relationships/hyperlink" Target="https://dlinrt.eu/companies/coreline-soft" TargetMode="External"/><Relationship Id="rId13" Type="http://schemas.openxmlformats.org/officeDocument/2006/relationships/hyperlink" Target="https://dlinrt.eu/companies/coreline-soft" TargetMode="External"/><Relationship Id="rId15" Type="http://schemas.openxmlformats.org/officeDocument/2006/relationships/hyperlink" Target="https://dlinrt.eu/companies/everfortune-ai" TargetMode="External"/><Relationship Id="rId16" Type="http://schemas.openxmlformats.org/officeDocument/2006/relationships/hyperlink" Target="https://dlinrt.eu/companies/everfortune-ai" TargetMode="External"/><Relationship Id="rId18" Type="http://schemas.openxmlformats.org/officeDocument/2006/relationships/hyperlink" Target="https://dlinrt.eu/companies/hura-imaging" TargetMode="External"/><Relationship Id="rId19" Type="http://schemas.openxmlformats.org/officeDocument/2006/relationships/hyperlink" Target="https://dlinrt.eu/companies/hura-imaging" TargetMode="External"/><Relationship Id="rId21" Type="http://schemas.openxmlformats.org/officeDocument/2006/relationships/hyperlink" Target="https://dlinrt.eu/companies/limbus-ai" TargetMode="External"/><Relationship Id="rId22" Type="http://schemas.openxmlformats.org/officeDocument/2006/relationships/hyperlink" Target="https://dlinrt.eu/companies/limbus-ai" TargetMode="External"/><Relationship Id="rId24" Type="http://schemas.openxmlformats.org/officeDocument/2006/relationships/hyperlink" Target="https://dlinrt.eu/companies/manteia" TargetMode="External"/><Relationship Id="rId25" Type="http://schemas.openxmlformats.org/officeDocument/2006/relationships/hyperlink" Target="https://dlinrt.eu/companies/manteia" TargetMode="External"/><Relationship Id="rId27" Type="http://schemas.openxmlformats.org/officeDocument/2006/relationships/hyperlink" Target="https://dlinrt.eu/companies/mim-software" TargetMode="External"/><Relationship Id="rId28" Type="http://schemas.openxmlformats.org/officeDocument/2006/relationships/hyperlink" Target="https://dlinrt.eu/companies/mim-software" TargetMode="External"/><Relationship Id="rId30" Type="http://schemas.openxmlformats.org/officeDocument/2006/relationships/hyperlink" Target="https://dlinrt.eu/companies/mirada-medical" TargetMode="External"/><Relationship Id="rId31" Type="http://schemas.openxmlformats.org/officeDocument/2006/relationships/hyperlink" Target="https://dlinrt.eu/companies/mirada-medical" TargetMode="External"/><Relationship Id="rId33" Type="http://schemas.openxmlformats.org/officeDocument/2006/relationships/hyperlink" Target="https://dlinrt.eu/companies/mvision-ai" TargetMode="External"/><Relationship Id="rId34" Type="http://schemas.openxmlformats.org/officeDocument/2006/relationships/hyperlink" Target="https://dlinrt.eu/companies/mvision-ai" TargetMode="External"/><Relationship Id="rId36" Type="http://schemas.openxmlformats.org/officeDocument/2006/relationships/hyperlink" Target="https://dlinrt.eu/companies/radformation" TargetMode="External"/><Relationship Id="rId37" Type="http://schemas.openxmlformats.org/officeDocument/2006/relationships/hyperlink" Target="https://dlinrt.eu/companies/radformation" TargetMode="External"/><Relationship Id="rId39" Type="http://schemas.openxmlformats.org/officeDocument/2006/relationships/hyperlink" Target="https://dlinrt.eu/companies/synaptiq" TargetMode="External"/><Relationship Id="rId40" Type="http://schemas.openxmlformats.org/officeDocument/2006/relationships/hyperlink" Target="https://dlinrt.eu/companies/synaptiq" TargetMode="External"/><Relationship Id="rId42" Type="http://schemas.openxmlformats.org/officeDocument/2006/relationships/hyperlink" Target="https://dlinrt.eu/companies/therapanacea" TargetMode="External"/><Relationship Id="rId43" Type="http://schemas.openxmlformats.org/officeDocument/2006/relationships/hyperlink" Target="https://dlinrt.eu/companies/therapanacea" TargetMode="External"/><Relationship Id="rId45" Type="http://schemas.openxmlformats.org/officeDocument/2006/relationships/hyperlink" Target="https://dlinrt.eu/companies/vysioner" TargetMode="External"/><Relationship Id="rId46" Type="http://schemas.openxmlformats.org/officeDocument/2006/relationships/hyperlink" Target="https://dlinrt.eu/companies/vysioner" TargetMode="External"/><Relationship Id="rId48" Type="http://schemas.openxmlformats.org/officeDocument/2006/relationships/hyperlink" Target="https://dlinrt.eu/companies/wisdom-tech" TargetMode="External"/><Relationship Id="rId49" Type="http://schemas.openxmlformats.org/officeDocument/2006/relationships/hyperlink" Target="https://dlinrt.eu/companies/wisdom-tech" TargetMode="External"/><Relationship Id="rId51" Type="http://schemas.openxmlformats.org/officeDocument/2006/relationships/hyperlink" Target="https://dlinrt.eu/companies/oncosoft" TargetMode="External"/><Relationship Id="rId52" Type="http://schemas.openxmlformats.org/officeDocument/2006/relationships/hyperlink" Target="https://dlinrt.eu/companies/oncosoft" TargetMode="External"/><Relationship Id="rId54" Type="http://schemas.openxmlformats.org/officeDocument/2006/relationships/hyperlink" Target="https://dlinrt.eu/companies/medcom" TargetMode="External"/><Relationship Id="rId55" Type="http://schemas.openxmlformats.org/officeDocument/2006/relationships/hyperlink" Target="https://dlinrt.eu/companies/medcom" TargetMode="External"/><Relationship Id="rId57" Type="http://schemas.openxmlformats.org/officeDocument/2006/relationships/hyperlink" Target="https://dlinrt.eu/companies/ge-healthcare" TargetMode="External"/><Relationship Id="rId58" Type="http://schemas.openxmlformats.org/officeDocument/2006/relationships/hyperlink" Target="https://dlinrt.eu/companies/ge-healthcare" TargetMode="External"/><Relationship Id="rId60" Type="http://schemas.openxmlformats.org/officeDocument/2006/relationships/hyperlink" Target="https://dlinrt.eu/companies/philips-healthcare" TargetMode="External"/><Relationship Id="rId61" Type="http://schemas.openxmlformats.org/officeDocument/2006/relationships/hyperlink" Target="https://dlinrt.eu/companies/philips-healthcare" TargetMode="External"/><Relationship Id="rId63" Type="http://schemas.openxmlformats.org/officeDocument/2006/relationships/hyperlink" Target="https://dlinrt.eu/companies/siemens-healthineers" TargetMode="External"/><Relationship Id="rId64" Type="http://schemas.openxmlformats.org/officeDocument/2006/relationships/hyperlink" Target="https://dlinrt.eu/companies/siemens-healthineers" TargetMode="External"/><Relationship Id="rId66" Type="http://schemas.openxmlformats.org/officeDocument/2006/relationships/hyperlink" Target="https://dlinrt.eu/companies/canon-medical" TargetMode="External"/><Relationship Id="rId67" Type="http://schemas.openxmlformats.org/officeDocument/2006/relationships/hyperlink" Target="https://dlinrt.eu/companies/canon-medical" TargetMode="External"/><Relationship Id="rId69" Type="http://schemas.openxmlformats.org/officeDocument/2006/relationships/hyperlink" Target="https://dlinrt.eu/companies/united-imaging" TargetMode="External"/><Relationship Id="rId70" Type="http://schemas.openxmlformats.org/officeDocument/2006/relationships/hyperlink" Target="https://dlinrt.eu/companies/united-imaging" TargetMode="External"/><Relationship Id="rId72" Type="http://schemas.openxmlformats.org/officeDocument/2006/relationships/hyperlink" Target="https://dlinrt.eu/companies/taiwan-medical-imaging" TargetMode="External"/><Relationship Id="rId73" Type="http://schemas.openxmlformats.org/officeDocument/2006/relationships/hyperlink" Target="https://dlinrt.eu/companies/taiwan-medical-imaging" TargetMode="External"/><Relationship Id="rId75" Type="http://schemas.openxmlformats.org/officeDocument/2006/relationships/hyperlink" Target="https://dlinrt.eu/companies/algomedica" TargetMode="External"/><Relationship Id="rId76" Type="http://schemas.openxmlformats.org/officeDocument/2006/relationships/hyperlink" Target="https://dlinrt.eu/companies/algomedica" TargetMode="External"/><Relationship Id="rId78" Type="http://schemas.openxmlformats.org/officeDocument/2006/relationships/hyperlink" Target="https://dlinrt.eu/companies/spectronic-medical" TargetMode="External"/><Relationship Id="rId79" Type="http://schemas.openxmlformats.org/officeDocument/2006/relationships/hyperlink" Target="https://dlinrt.eu/companies/spectronic-medical" TargetMode="External"/><Relationship Id="rId81" Type="http://schemas.openxmlformats.org/officeDocument/2006/relationships/hyperlink" Target="https://dlinrt.eu/companies/syntheticmr" TargetMode="External"/><Relationship Id="rId82" Type="http://schemas.openxmlformats.org/officeDocument/2006/relationships/hyperlink" Target="https://dlinrt.eu/companies/syntheticmr" TargetMode="External"/><Relationship Id="rId84" Type="http://schemas.openxmlformats.org/officeDocument/2006/relationships/hyperlink" Target="https://dlinrt.eu/companies/raysearch" TargetMode="External"/><Relationship Id="rId85" Type="http://schemas.openxmlformats.org/officeDocument/2006/relationships/hyperlink" Target="https://dlinrt.eu/companies/raysearch" TargetMode="External"/><Relationship Id="rId87" Type="http://schemas.openxmlformats.org/officeDocument/2006/relationships/hyperlink" Target="https://dlinrt.eu/companies/airs-medical" TargetMode="External"/><Relationship Id="rId88" Type="http://schemas.openxmlformats.org/officeDocument/2006/relationships/hyperlink" Target="https://dlinrt.eu/companies/airs-medical" TargetMode="External"/><Relationship Id="rId90" Type="http://schemas.openxmlformats.org/officeDocument/2006/relationships/hyperlink" Target="https://dlinrt.eu/companies/claripi" TargetMode="External"/><Relationship Id="rId91" Type="http://schemas.openxmlformats.org/officeDocument/2006/relationships/hyperlink" Target="https://dlinrt.eu/companies/claripi" TargetMode="External"/><Relationship Id="rId93" Type="http://schemas.openxmlformats.org/officeDocument/2006/relationships/hyperlink" Target="https://dlinrt.eu/companies/subtle-medical" TargetMode="External"/><Relationship Id="rId94" Type="http://schemas.openxmlformats.org/officeDocument/2006/relationships/hyperlink" Target="https://dlinrt.eu/companies/subtle-medical" TargetMode="External"/><Relationship Id="rId96" Type="http://schemas.openxmlformats.org/officeDocument/2006/relationships/hyperlink" Target="https://dlinrt.eu/companies/ptw-dosimetry" TargetMode="External"/><Relationship Id="rId97" Type="http://schemas.openxmlformats.org/officeDocument/2006/relationships/hyperlink" Target="https://dlinrt.eu/companies/ptw-dosimetry" TargetMode="External"/><Relationship Id="rId99" Type="http://schemas.openxmlformats.org/officeDocument/2006/relationships/hyperlink" Target="https://dlinrt.eu/companies/pymedix" TargetMode="External"/><Relationship Id="rId100" Type="http://schemas.openxmlformats.org/officeDocument/2006/relationships/hyperlink" Target="https://dlinrt.eu/companies/pymedix" TargetMode="External"/><Relationship Id="rId102" Type="http://schemas.openxmlformats.org/officeDocument/2006/relationships/hyperlink" Target="https://dlinrt.eu/companies/medlever" TargetMode="External"/><Relationship Id="rId103" Type="http://schemas.openxmlformats.org/officeDocument/2006/relationships/hyperlink" Target="https://dlinrt.eu/companies/medlever" TargetMode="External"/><Relationship Id="rId105" Type="http://schemas.openxmlformats.org/officeDocument/2006/relationships/hyperlink" Target="https://dlinrt.eu/companies/medmind-technology" TargetMode="External"/><Relationship Id="rId106" Type="http://schemas.openxmlformats.org/officeDocument/2006/relationships/hyperlink" Target="https://dlinrt.eu/companies/medmind-technology" TargetMode="External"/><Relationship Id="rId108" Type="http://schemas.openxmlformats.org/officeDocument/2006/relationships/hyperlink" Target="https://dlinrt.eu/companies/quanta-computer" TargetMode="External"/><Relationship Id="rId109" Type="http://schemas.openxmlformats.org/officeDocument/2006/relationships/hyperlink" Target="https://dlinrt.eu/companies/quanta-computer" TargetMode="External"/><Relationship Id="rId111" Type="http://schemas.openxmlformats.org/officeDocument/2006/relationships/hyperlink" Target="https://dlinrt.eu/companies/elekta" TargetMode="External"/><Relationship Id="rId112" Type="http://schemas.openxmlformats.org/officeDocument/2006/relationships/hyperlink" Target="https://dlinrt.eu/companies/elekta" TargetMode="External"/><Relationship Id="rId114" Type="http://schemas.openxmlformats.org/officeDocument/2006/relationships/hyperlink" Target="https://dlinrt.eu/companies/accuray" TargetMode="External"/><Relationship Id="rId115" Type="http://schemas.openxmlformats.org/officeDocument/2006/relationships/hyperlink" Target="https://dlinrt.eu/companies/accuray" TargetMode="External"/><Relationship Id="rId117" Type="http://schemas.openxmlformats.org/officeDocument/2006/relationships/hyperlink" Target="https://dlinrt.eu/companies/sun-nuclear" TargetMode="External"/><Relationship Id="rId118" Type="http://schemas.openxmlformats.org/officeDocument/2006/relationships/hyperlink" Target="https://dlinrt.eu/companies/sun-nuclear" TargetMode="External"/><Relationship Id="rId120" Type="http://schemas.openxmlformats.org/officeDocument/2006/relationships/hyperlink" Target="https://dlinrt.eu/companies/md-anderson" TargetMode="External"/><Relationship Id="rId121" Type="http://schemas.openxmlformats.org/officeDocument/2006/relationships/hyperlink" Target="https://dlinrt.eu/companies/md-anderson" TargetMode="External"/><Relationship Id="rId123" Type="http://schemas.openxmlformats.org/officeDocument/2006/relationships/hyperlink" Target="https://dlinrt.eu/companies/brainlab" TargetMode="External"/><Relationship Id="rId124" Type="http://schemas.openxmlformats.org/officeDocument/2006/relationships/hyperlink" Target="https://dlinrt.eu/companies/brainlab" TargetMode="External"/><Relationship Id="rId126" Type="http://schemas.openxmlformats.org/officeDocument/2006/relationships/hyperlink" Target="https://dlinrt.eu/companies/varian" TargetMode="External"/><Relationship Id="rId127" Type="http://schemas.openxmlformats.org/officeDocument/2006/relationships/hyperlink" Target="https://dlinrt.eu/companies/varian" TargetMode="External"/><Relationship Id="rId129" Type="http://schemas.openxmlformats.org/officeDocument/2006/relationships/hyperlink" Target="https://dlinrt.eu" TargetMode="External"/><Relationship Id="rId130" Type="http://schemas.openxmlformats.org/officeDocument/2006/relationships/hyperlink" Target="https://creativecommons.org/licenses/by/4.0/" TargetMode="External"/><Relationship Id="rId132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4-1.png"/><Relationship Id="rId5" Type="http://schemas.openxmlformats.org/officeDocument/2006/relationships/image" Target="../media/image-4-2.png"/><Relationship Id="rId8" Type="http://schemas.openxmlformats.org/officeDocument/2006/relationships/image" Target="../media/image-4-3.jpg"/><Relationship Id="rId11" Type="http://schemas.openxmlformats.org/officeDocument/2006/relationships/image" Target="../media/image-4-4.jpg"/><Relationship Id="rId14" Type="http://schemas.openxmlformats.org/officeDocument/2006/relationships/image" Target="../media/image-4-5.png"/><Relationship Id="rId17" Type="http://schemas.openxmlformats.org/officeDocument/2006/relationships/image" Target="../media/image-4-6.png"/><Relationship Id="rId20" Type="http://schemas.openxmlformats.org/officeDocument/2006/relationships/image" Target="../media/image-4-7.png"/><Relationship Id="rId23" Type="http://schemas.openxmlformats.org/officeDocument/2006/relationships/image" Target="../media/image-4-8.png"/><Relationship Id="rId26" Type="http://schemas.openxmlformats.org/officeDocument/2006/relationships/image" Target="../media/image-4-9.png"/><Relationship Id="rId29" Type="http://schemas.openxmlformats.org/officeDocument/2006/relationships/image" Target="../media/image-4-10.png"/><Relationship Id="rId32" Type="http://schemas.openxmlformats.org/officeDocument/2006/relationships/image" Target="../media/image-4-11.png"/><Relationship Id="rId35" Type="http://schemas.openxmlformats.org/officeDocument/2006/relationships/image" Target="../media/image-4-12.png"/><Relationship Id="rId38" Type="http://schemas.openxmlformats.org/officeDocument/2006/relationships/image" Target="../media/image-4-13.png"/><Relationship Id="rId41" Type="http://schemas.openxmlformats.org/officeDocument/2006/relationships/image" Target="../media/image-4-14.png"/><Relationship Id="rId44" Type="http://schemas.openxmlformats.org/officeDocument/2006/relationships/image" Target="../media/image-4-15.png"/><Relationship Id="rId47" Type="http://schemas.openxmlformats.org/officeDocument/2006/relationships/image" Target="../media/image-4-16.png"/><Relationship Id="rId50" Type="http://schemas.openxmlformats.org/officeDocument/2006/relationships/image" Target="../media/image-4-17.png"/><Relationship Id="rId53" Type="http://schemas.openxmlformats.org/officeDocument/2006/relationships/image" Target="../media/image-4-18.png"/><Relationship Id="rId56" Type="http://schemas.openxmlformats.org/officeDocument/2006/relationships/image" Target="../media/image-4-19.png"/><Relationship Id="rId59" Type="http://schemas.openxmlformats.org/officeDocument/2006/relationships/image" Target="../media/image-4-20.png"/><Relationship Id="rId62" Type="http://schemas.openxmlformats.org/officeDocument/2006/relationships/image" Target="../media/image-4-21.png"/><Relationship Id="rId65" Type="http://schemas.openxmlformats.org/officeDocument/2006/relationships/image" Target="../media/image-4-22.jpg"/><Relationship Id="rId68" Type="http://schemas.openxmlformats.org/officeDocument/2006/relationships/image" Target="../media/image-4-23.png"/><Relationship Id="rId71" Type="http://schemas.openxmlformats.org/officeDocument/2006/relationships/image" Target="../media/image-4-24.png"/><Relationship Id="rId74" Type="http://schemas.openxmlformats.org/officeDocument/2006/relationships/image" Target="../media/image-4-25.png"/><Relationship Id="rId77" Type="http://schemas.openxmlformats.org/officeDocument/2006/relationships/image" Target="../media/image-4-26.jpg"/><Relationship Id="rId80" Type="http://schemas.openxmlformats.org/officeDocument/2006/relationships/image" Target="../media/image-4-27.png"/><Relationship Id="rId83" Type="http://schemas.openxmlformats.org/officeDocument/2006/relationships/image" Target="../media/image-4-28.jpg"/><Relationship Id="rId86" Type="http://schemas.openxmlformats.org/officeDocument/2006/relationships/image" Target="../media/image-4-29.jpg"/><Relationship Id="rId89" Type="http://schemas.openxmlformats.org/officeDocument/2006/relationships/image" Target="../media/image-4-30.jpg"/><Relationship Id="rId92" Type="http://schemas.openxmlformats.org/officeDocument/2006/relationships/image" Target="../media/image-4-31.jpg"/><Relationship Id="rId95" Type="http://schemas.openxmlformats.org/officeDocument/2006/relationships/image" Target="../media/image-4-32.jpg"/><Relationship Id="rId98" Type="http://schemas.openxmlformats.org/officeDocument/2006/relationships/image" Target="../media/image-4-33.png"/><Relationship Id="rId101" Type="http://schemas.openxmlformats.org/officeDocument/2006/relationships/image" Target="../media/image-4-34.jpg"/><Relationship Id="rId104" Type="http://schemas.openxmlformats.org/officeDocument/2006/relationships/image" Target="../media/image-4-35.png"/><Relationship Id="rId107" Type="http://schemas.openxmlformats.org/officeDocument/2006/relationships/image" Target="../media/image-4-36.png"/><Relationship Id="rId110" Type="http://schemas.openxmlformats.org/officeDocument/2006/relationships/image" Target="../media/image-4-37.png"/><Relationship Id="rId113" Type="http://schemas.openxmlformats.org/officeDocument/2006/relationships/image" Target="../media/image-4-38.png"/><Relationship Id="rId116" Type="http://schemas.openxmlformats.org/officeDocument/2006/relationships/image" Target="../media/image-4-39.png"/><Relationship Id="rId119" Type="http://schemas.openxmlformats.org/officeDocument/2006/relationships/image" Target="../media/image-4-40.png"/><Relationship Id="rId122" Type="http://schemas.openxmlformats.org/officeDocument/2006/relationships/image" Target="../media/image-4-41.jpg"/><Relationship Id="rId125" Type="http://schemas.openxmlformats.org/officeDocument/2006/relationships/image" Target="../media/image-4-42.jpg"/><Relationship Id="rId128" Type="http://schemas.openxmlformats.org/officeDocument/2006/relationships/image" Target="../media/image-4-43.png"/><Relationship Id="rId131" Type="http://schemas.openxmlformats.org/officeDocument/2006/relationships/image" Target="../media/image-4-44.png"/><Relationship Id="rId133" Type="http://schemas.openxmlformats.org/officeDocument/2006/relationships/slideLayout" Target="../slideLayouts/slideLayout1.xml"/><Relationship Id="rId13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transparency" TargetMode="External"/><Relationship Id="rId2" Type="http://schemas.openxmlformats.org/officeDocument/2006/relationships/hyperlink" Target="https://dlinrt.eu/transparency" TargetMode="External"/><Relationship Id="rId3" Type="http://schemas.openxmlformats.org/officeDocument/2006/relationships/hyperlink" Target="https://dlinrt.eu/about" TargetMode="External"/><Relationship Id="rId4" Type="http://schemas.openxmlformats.org/officeDocument/2006/relationships/hyperlink" Target="https://dlinrt.eu/support" TargetMode="External"/><Relationship Id="rId6" Type="http://schemas.openxmlformats.org/officeDocument/2006/relationships/hyperlink" Target="https://dlinrt.eu" TargetMode="External"/><Relationship Id="rId7" Type="http://schemas.openxmlformats.org/officeDocument/2006/relationships/hyperlink" Target="https://creativecommons.org/licenses/by/4.0/" TargetMode="External"/><Relationship Id="rId9" Type="http://schemas.openxmlformats.org/officeDocument/2006/relationships/hyperlink" Target="https://www.linkedin.com/company/dlinrt-eu/" TargetMode="External"/><Relationship Id="rId5" Type="http://schemas.openxmlformats.org/officeDocument/2006/relationships/image" Target="../media/image-5-1.png"/><Relationship Id="rId8" Type="http://schemas.openxmlformats.org/officeDocument/2006/relationships/image" Target="../media/image-5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org" TargetMode="External"/><Relationship Id="rId2" Type="http://schemas.openxmlformats.org/officeDocument/2006/relationships/hyperlink" Target="https://dlinrt.eu" TargetMode="External"/><Relationship Id="rId3" Type="http://schemas.openxmlformats.org/officeDocument/2006/relationships/hyperlink" Target="https://dlinrt.org" TargetMode="External"/><Relationship Id="rId4" Type="http://schemas.openxmlformats.org/officeDocument/2006/relationships/hyperlink" Target="https://dlinrt.eu/companies" TargetMode="External"/><Relationship Id="rId5" Type="http://schemas.openxmlformats.org/officeDocument/2006/relationships/hyperlink" Target="https://dlinrt.eu/companies/synaptiq" TargetMode="External"/><Relationship Id="rId6" Type="http://schemas.openxmlformats.org/officeDocument/2006/relationships/hyperlink" Target="https://miart-workshop.github.io/" TargetMode="External"/><Relationship Id="rId7" Type="http://schemas.openxmlformats.org/officeDocument/2006/relationships/hyperlink" Target="https://miart-workshop.github.io/" TargetMode="External"/><Relationship Id="rId8" Type="http://schemas.openxmlformats.org/officeDocument/2006/relationships/hyperlink" Target="https://dlinrt.eu/support" TargetMode="External"/><Relationship Id="rId9" Type="http://schemas.openxmlformats.org/officeDocument/2006/relationships/hyperlink" Target="https://dlinrt.eu/support" TargetMode="External"/><Relationship Id="rId10" Type="http://schemas.openxmlformats.org/officeDocument/2006/relationships/hyperlink" Target="https://dlinrt.eu/dashboard" TargetMode="External"/><Relationship Id="rId11" Type="http://schemas.openxmlformats.org/officeDocument/2006/relationships/hyperlink" Target="https://dlinrt.eu/dashboard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12" Type="http://schemas.openxmlformats.org/officeDocument/2006/relationships/image" Target="../media/image-6-1.png"/><Relationship Id="rId15" Type="http://schemas.openxmlformats.org/officeDocument/2006/relationships/image" Target="../media/image-6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catalogue, new evidence system, first certified company, new reviewer, MAIRT @ MICCAI.</a:t>
            </a:r>
            <a:endParaRPr lang="en-US" sz="2200" dirty="0"/>
          </a:p>
        </p:txBody>
      </p:sp>
      <p:pic>
        <p:nvPicPr>
          <p:cNvPr id="6" name="Image 0" descr="public/newsletters/2026-06/_assets/dlinrt-logo.png">
            <a:hlinkClick r:id="rId3" tooltip="dlinrt.eu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8" name="Image 1" descr="public/newsletters/2026-06/_assets/linkedin.png">
            <a:hlinkClick r:id="rId6" tooltip="DLinRT on LinkedIn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Cumulative products in the catalogue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88 products total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Image 0" descr="public/newsletters/2026-06/_assets/dlinrt-logo.png">
            <a:hlinkClick r:id="rId4" tooltip="dlinrt.eu"/>
      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7" name="Image 1" descr="public/newsletters/2026-06/_assets/linkedin.png">
            <a:hlinkClick r:id="rId7" tooltip="DLinRT on LinkedIn"/>
      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88 products · primary category only · click a category to browse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Auto-Contouring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863840" y="18470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Enhancement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14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63840" y="223113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Reconstruction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13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0" y="26151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Synthesis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9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Treatment Planning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33832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Registration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63840" y="41513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Performance Monitor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453542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Tracking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</a:t>
            </a:r>
            <a:endParaRPr lang="en-US" sz="15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Companies in the DLinRT.eu catalogue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active companies · click any logo to open its page</a:t>
            </a:r>
            <a:endParaRPr lang="en-US" sz="1300" dirty="0"/>
          </a:p>
        </p:txBody>
      </p:sp>
      <p:pic>
        <p:nvPicPr>
          <p:cNvPr id="4" name="Image 0" descr="public/logos/NeuralRadLogo.png">
            <a:hlinkClick r:id="rId3" tooltip="NeuralRad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" y="1298448"/>
            <a:ext cx="1417712" cy="3444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NeuralRad</a:t>
            </a:r>
            <a:endParaRPr lang="en-US" sz="900" dirty="0"/>
          </a:p>
        </p:txBody>
      </p:sp>
      <p:pic>
        <p:nvPicPr>
          <p:cNvPr id="6" name="Image 1" descr="public/logos/ai-medical.png">
            <a:hlinkClick r:id="rId6" tooltip="AI Medical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112656" y="1298448"/>
            <a:ext cx="1417712" cy="3444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Medical</a:t>
            </a:r>
            <a:endParaRPr lang="en-US" sz="900" dirty="0"/>
          </a:p>
        </p:txBody>
      </p:sp>
      <p:pic>
        <p:nvPicPr>
          <p:cNvPr id="8" name="Image 2" descr="public/logos/carina.jpg">
            <a:hlinkClick r:id="rId9" tooltip="Carina AI"/>
      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749824" y="1298448"/>
            <a:ext cx="1417712" cy="3444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Carina AI</a:t>
            </a:r>
            <a:endParaRPr lang="en-US" sz="900" dirty="0"/>
          </a:p>
        </p:txBody>
      </p:sp>
      <p:pic>
        <p:nvPicPr>
          <p:cNvPr id="10" name="Image 3" descr="public/logos/coreline.jpg">
            <a:hlinkClick r:id="rId12" tooltip="Coreline Soft Co"/>
      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86992" y="1298448"/>
            <a:ext cx="1417712" cy="34442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/logos/ever-fortune.png">
            <a:hlinkClick r:id="rId15" tooltip="Ever Fortune AI"/>
      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7024160" y="1298448"/>
            <a:ext cx="1417712" cy="34442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/logos/huraimaging.png">
            <a:hlinkClick r:id="rId18" tooltip="Hura Imaging"/>
      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8661327" y="1298448"/>
            <a:ext cx="1417712" cy="34442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/logos/Limbus-ai.png">
            <a:hlinkClick r:id="rId21" tooltip="Limbus AI"/>
      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10298495" y="1298448"/>
            <a:ext cx="1417712" cy="344424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Limbus AI</a:t>
            </a:r>
            <a:endParaRPr lang="en-US" sz="900" dirty="0"/>
          </a:p>
        </p:txBody>
      </p:sp>
      <p:pic>
        <p:nvPicPr>
          <p:cNvPr id="18" name="Image 7" descr="public/logos/manteia.png">
            <a:hlinkClick r:id="rId24" tooltip="Manteia"/>
          </p:cNvPr>
          <p:cNvPicPr>
            <a:picLocks noChangeAspect="1"/>
          </p:cNvPicPr>
          <p:nvPr/>
        </p:nvPicPr>
        <p:blipFill>
          <a:blip r:embed="rId23"/>
          <a:srcRect l="0" r="0" t="0" b="0"/>
          <a:stretch/>
        </p:blipFill>
        <p:spPr>
          <a:xfrm>
            <a:off x="475488" y="2136648"/>
            <a:ext cx="1417712" cy="34442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Manteia</a:t>
            </a:r>
            <a:endParaRPr lang="en-US" sz="900" dirty="0"/>
          </a:p>
        </p:txBody>
      </p:sp>
      <p:pic>
        <p:nvPicPr>
          <p:cNvPr id="20" name="Image 8" descr="public/newsletters/2026-06/_logo-cache/mimsoftware.png">
            <a:hlinkClick r:id="rId27" tooltip="MIM Software"/>
          </p:cNvPr>
          <p:cNvPicPr>
            <a:picLocks noChangeAspect="1"/>
          </p:cNvPicPr>
          <p:nvPr/>
        </p:nvPicPr>
        <p:blipFill>
          <a:blip r:embed="rId26"/>
          <a:srcRect l="0" r="0" t="0" b="0"/>
          <a:stretch/>
        </p:blipFill>
        <p:spPr>
          <a:xfrm>
            <a:off x="2112656" y="2136648"/>
            <a:ext cx="1417712" cy="344424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2112656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MIM Software</a:t>
            </a:r>
            <a:endParaRPr lang="en-US" sz="900" dirty="0"/>
          </a:p>
        </p:txBody>
      </p:sp>
      <p:pic>
        <p:nvPicPr>
          <p:cNvPr id="22" name="Image 9" descr="public/logos/mirada-medical.png">
            <a:hlinkClick r:id="rId30" tooltip="Mirada Medical"/>
          </p:cNvPr>
          <p:cNvPicPr>
            <a:picLocks noChangeAspect="1"/>
          </p:cNvPicPr>
          <p:nvPr/>
        </p:nvPicPr>
        <p:blipFill>
          <a:blip r:embed="rId29"/>
          <a:srcRect l="0" r="0" t="0" b="0"/>
          <a:stretch/>
        </p:blipFill>
        <p:spPr>
          <a:xfrm>
            <a:off x="3749824" y="2136648"/>
            <a:ext cx="1417712" cy="344424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749824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Mirada Medical</a:t>
            </a:r>
            <a:endParaRPr lang="en-US" sz="900" dirty="0"/>
          </a:p>
        </p:txBody>
      </p:sp>
      <p:pic>
        <p:nvPicPr>
          <p:cNvPr id="24" name="Image 10" descr="public/logos/mvision-ai.png">
            <a:hlinkClick r:id="rId33" tooltip="MVision AI"/>
          </p:cNvPr>
          <p:cNvPicPr>
            <a:picLocks noChangeAspect="1"/>
          </p:cNvPicPr>
          <p:nvPr/>
        </p:nvPicPr>
        <p:blipFill>
          <a:blip r:embed="rId32"/>
          <a:srcRect l="0" r="0" t="0" b="0"/>
          <a:stretch/>
        </p:blipFill>
        <p:spPr>
          <a:xfrm>
            <a:off x="5386992" y="2136648"/>
            <a:ext cx="1417712" cy="34442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5386992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MVision AI</a:t>
            </a:r>
            <a:endParaRPr lang="en-US" sz="900" dirty="0"/>
          </a:p>
        </p:txBody>
      </p:sp>
      <p:pic>
        <p:nvPicPr>
          <p:cNvPr id="26" name="Image 11" descr="public/newsletters/2026-06/_logo-cache/radformation.png">
            <a:hlinkClick r:id="rId36" tooltip="RadFormation"/>
          </p:cNvPr>
          <p:cNvPicPr>
            <a:picLocks noChangeAspect="1"/>
          </p:cNvPicPr>
          <p:nvPr/>
        </p:nvPicPr>
        <p:blipFill>
          <a:blip r:embed="rId35"/>
          <a:srcRect l="0" r="0" t="0" b="0"/>
          <a:stretch/>
        </p:blipFill>
        <p:spPr>
          <a:xfrm>
            <a:off x="7024160" y="2136648"/>
            <a:ext cx="1417712" cy="344424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024160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RadFormation</a:t>
            </a:r>
            <a:endParaRPr lang="en-US" sz="900" dirty="0"/>
          </a:p>
        </p:txBody>
      </p:sp>
      <p:pic>
        <p:nvPicPr>
          <p:cNvPr id="28" name="Image 12" descr="public/logos/synaptiq.png">
            <a:hlinkClick r:id="rId39" tooltip="Synaptiq"/>
          </p:cNvPr>
          <p:cNvPicPr>
            <a:picLocks noChangeAspect="1"/>
          </p:cNvPicPr>
          <p:nvPr/>
        </p:nvPicPr>
        <p:blipFill>
          <a:blip r:embed="rId38"/>
          <a:srcRect l="0" r="0" t="0" b="0"/>
          <a:stretch/>
        </p:blipFill>
        <p:spPr>
          <a:xfrm>
            <a:off x="8661327" y="2136648"/>
            <a:ext cx="1417712" cy="344424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8661327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endParaRPr lang="en-US" sz="900" dirty="0"/>
          </a:p>
        </p:txBody>
      </p:sp>
      <p:pic>
        <p:nvPicPr>
          <p:cNvPr id="30" name="Image 13" descr="public/logos/therapanacea.png">
            <a:hlinkClick r:id="rId42" tooltip="Therapanacea"/>
          </p:cNvPr>
          <p:cNvPicPr>
            <a:picLocks noChangeAspect="1"/>
          </p:cNvPicPr>
          <p:nvPr/>
        </p:nvPicPr>
        <p:blipFill>
          <a:blip r:embed="rId41"/>
          <a:srcRect l="0" r="0" t="0" b="0"/>
          <a:stretch/>
        </p:blipFill>
        <p:spPr>
          <a:xfrm>
            <a:off x="10298495" y="2136648"/>
            <a:ext cx="1417712" cy="34442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298495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Therapanacea</a:t>
            </a:r>
            <a:endParaRPr lang="en-US" sz="900" dirty="0"/>
          </a:p>
        </p:txBody>
      </p:sp>
      <p:pic>
        <p:nvPicPr>
          <p:cNvPr id="32" name="Image 14" descr="public/logos/vysioner.png">
            <a:hlinkClick r:id="rId45" tooltip="Vysioner"/>
          </p:cNvPr>
          <p:cNvPicPr>
            <a:picLocks noChangeAspect="1"/>
          </p:cNvPicPr>
          <p:nvPr/>
        </p:nvPicPr>
        <p:blipFill>
          <a:blip r:embed="rId44"/>
          <a:srcRect l="0" r="0" t="0" b="0"/>
          <a:stretch/>
        </p:blipFill>
        <p:spPr>
          <a:xfrm>
            <a:off x="475488" y="2974848"/>
            <a:ext cx="1417712" cy="344424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475488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Vysioner</a:t>
            </a:r>
            <a:endParaRPr lang="en-US" sz="900" dirty="0"/>
          </a:p>
        </p:txBody>
      </p:sp>
      <p:pic>
        <p:nvPicPr>
          <p:cNvPr id="34" name="Image 15" descr="public/logos/wisdom-tech.png">
            <a:hlinkClick r:id="rId48" tooltip="Wisdom Tech"/>
          </p:cNvPr>
          <p:cNvPicPr>
            <a:picLocks noChangeAspect="1"/>
          </p:cNvPicPr>
          <p:nvPr/>
        </p:nvPicPr>
        <p:blipFill>
          <a:blip r:embed="rId47"/>
          <a:srcRect l="0" r="0" t="0" b="0"/>
          <a:stretch/>
        </p:blipFill>
        <p:spPr>
          <a:xfrm>
            <a:off x="2112656" y="2974848"/>
            <a:ext cx="1417712" cy="344424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2112656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Wisdom Tech</a:t>
            </a:r>
            <a:endParaRPr lang="en-US" sz="900" dirty="0"/>
          </a:p>
        </p:txBody>
      </p:sp>
      <p:pic>
        <p:nvPicPr>
          <p:cNvPr id="36" name="Image 16" descr="public/logos/oncosoft.png">
            <a:hlinkClick r:id="rId51" tooltip="Oncosoft"/>
          </p:cNvPr>
          <p:cNvPicPr>
            <a:picLocks noChangeAspect="1"/>
          </p:cNvPicPr>
          <p:nvPr/>
        </p:nvPicPr>
        <p:blipFill>
          <a:blip r:embed="rId50"/>
          <a:srcRect l="0" r="0" t="0" b="0"/>
          <a:stretch/>
        </p:blipFill>
        <p:spPr>
          <a:xfrm>
            <a:off x="3749824" y="2974848"/>
            <a:ext cx="1417712" cy="344424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3749824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Oncosoft</a:t>
            </a:r>
            <a:endParaRPr lang="en-US" sz="900" dirty="0"/>
          </a:p>
        </p:txBody>
      </p:sp>
      <p:pic>
        <p:nvPicPr>
          <p:cNvPr id="38" name="Image 17" descr="public/logos/medcom.png">
            <a:hlinkClick r:id="rId54" tooltip="MedCom"/>
          </p:cNvPr>
          <p:cNvPicPr>
            <a:picLocks noChangeAspect="1"/>
          </p:cNvPicPr>
          <p:nvPr/>
        </p:nvPicPr>
        <p:blipFill>
          <a:blip r:embed="rId53"/>
          <a:srcRect l="0" r="0" t="0" b="0"/>
          <a:stretch/>
        </p:blipFill>
        <p:spPr>
          <a:xfrm>
            <a:off x="5386992" y="2974848"/>
            <a:ext cx="1417712" cy="344424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5386992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MedCom</a:t>
            </a:r>
            <a:endParaRPr lang="en-US" sz="900" dirty="0"/>
          </a:p>
        </p:txBody>
      </p:sp>
      <p:pic>
        <p:nvPicPr>
          <p:cNvPr id="40" name="Image 18" descr="public/logos/ge_healthcare.png">
            <a:hlinkClick r:id="rId57" tooltip="GE Healthcare"/>
          </p:cNvPr>
          <p:cNvPicPr>
            <a:picLocks noChangeAspect="1"/>
          </p:cNvPicPr>
          <p:nvPr/>
        </p:nvPicPr>
        <p:blipFill>
          <a:blip r:embed="rId56"/>
          <a:srcRect l="0" r="0" t="0" b="0"/>
          <a:stretch/>
        </p:blipFill>
        <p:spPr>
          <a:xfrm>
            <a:off x="7024160" y="2974848"/>
            <a:ext cx="1417712" cy="344424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024160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 Healthcare</a:t>
            </a:r>
            <a:endParaRPr lang="en-US" sz="900" dirty="0"/>
          </a:p>
        </p:txBody>
      </p:sp>
      <p:pic>
        <p:nvPicPr>
          <p:cNvPr id="42" name="Image 19" descr="public/logos/philips.png">
            <a:hlinkClick r:id="rId60" tooltip="Philips"/>
          </p:cNvPr>
          <p:cNvPicPr>
            <a:picLocks noChangeAspect="1"/>
          </p:cNvPicPr>
          <p:nvPr/>
        </p:nvPicPr>
        <p:blipFill>
          <a:blip r:embed="rId59"/>
          <a:srcRect l="0" r="0" t="0" b="0"/>
          <a:stretch/>
        </p:blipFill>
        <p:spPr>
          <a:xfrm>
            <a:off x="8661327" y="2974848"/>
            <a:ext cx="1417712" cy="344424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8661327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Philips</a:t>
            </a:r>
            <a:endParaRPr lang="en-US" sz="900" dirty="0"/>
          </a:p>
        </p:txBody>
      </p:sp>
      <p:pic>
        <p:nvPicPr>
          <p:cNvPr id="44" name="Image 20" descr="public/logos/siemens.png">
            <a:hlinkClick r:id="rId63" tooltip="Siemens Healthineers"/>
          </p:cNvPr>
          <p:cNvPicPr>
            <a:picLocks noChangeAspect="1"/>
          </p:cNvPicPr>
          <p:nvPr/>
        </p:nvPicPr>
        <p:blipFill>
          <a:blip r:embed="rId62"/>
          <a:srcRect l="0" r="0" t="0" b="0"/>
          <a:stretch/>
        </p:blipFill>
        <p:spPr>
          <a:xfrm>
            <a:off x="10298495" y="2974848"/>
            <a:ext cx="1417712" cy="344424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298495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Siemens Healthineers</a:t>
            </a:r>
            <a:endParaRPr lang="en-US" sz="900" dirty="0"/>
          </a:p>
        </p:txBody>
      </p:sp>
      <p:pic>
        <p:nvPicPr>
          <p:cNvPr id="46" name="Image 21" descr="public/logos/canon.jpg">
            <a:hlinkClick r:id="rId66" tooltip="Canon Medical Systems"/>
          </p:cNvPr>
          <p:cNvPicPr>
            <a:picLocks noChangeAspect="1"/>
          </p:cNvPicPr>
          <p:nvPr/>
        </p:nvPicPr>
        <p:blipFill>
          <a:blip r:embed="rId65"/>
          <a:srcRect l="0" r="0" t="0" b="0"/>
          <a:stretch/>
        </p:blipFill>
        <p:spPr>
          <a:xfrm>
            <a:off x="475488" y="3813048"/>
            <a:ext cx="1417712" cy="344424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475488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Canon Medical Systems</a:t>
            </a:r>
            <a:endParaRPr lang="en-US" sz="900" dirty="0"/>
          </a:p>
        </p:txBody>
      </p:sp>
      <p:pic>
        <p:nvPicPr>
          <p:cNvPr id="48" name="Image 22" descr="public/logos/unitedimaging.png">
            <a:hlinkClick r:id="rId69" tooltip="United Imaging"/>
          </p:cNvPr>
          <p:cNvPicPr>
            <a:picLocks noChangeAspect="1"/>
          </p:cNvPicPr>
          <p:nvPr/>
        </p:nvPicPr>
        <p:blipFill>
          <a:blip r:embed="rId68"/>
          <a:srcRect l="0" r="0" t="0" b="0"/>
          <a:stretch/>
        </p:blipFill>
        <p:spPr>
          <a:xfrm>
            <a:off x="2112656" y="3813048"/>
            <a:ext cx="1417712" cy="344424"/>
          </a:xfrm>
          <a:prstGeom prst="rect">
            <a:avLst/>
          </a:prstGeom>
        </p:spPr>
      </p:pic>
      <p:sp>
        <p:nvSpPr>
          <p:cNvPr id="49" name="Text 24"/>
          <p:cNvSpPr/>
          <p:nvPr/>
        </p:nvSpPr>
        <p:spPr>
          <a:xfrm>
            <a:off x="2112656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United Imaging</a:t>
            </a:r>
            <a:endParaRPr lang="en-US" sz="900" dirty="0"/>
          </a:p>
        </p:txBody>
      </p:sp>
      <p:pic>
        <p:nvPicPr>
          <p:cNvPr id="50" name="Image 23" descr="public/newsletters/2026-06/_logo-cache/Taiwan_MedImag.png">
            <a:hlinkClick r:id="rId72" tooltip="Taiwan Medical Imaging Co."/>
          </p:cNvPr>
          <p:cNvPicPr>
            <a:picLocks noChangeAspect="1"/>
          </p:cNvPicPr>
          <p:nvPr/>
        </p:nvPicPr>
        <p:blipFill>
          <a:blip r:embed="rId71"/>
          <a:srcRect l="0" r="0" t="0" b="0"/>
          <a:stretch/>
        </p:blipFill>
        <p:spPr>
          <a:xfrm>
            <a:off x="3749824" y="3813048"/>
            <a:ext cx="1417712" cy="344424"/>
          </a:xfrm>
          <a:prstGeom prst="rect">
            <a:avLst/>
          </a:prstGeom>
        </p:spPr>
      </p:pic>
      <p:sp>
        <p:nvSpPr>
          <p:cNvPr id="51" name="Text 25"/>
          <p:cNvSpPr/>
          <p:nvPr/>
        </p:nvSpPr>
        <p:spPr>
          <a:xfrm>
            <a:off x="3749824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4" descr="public/logos/algomedica.png">
            <a:hlinkClick r:id="rId75" tooltip="AlgoMedica"/>
          </p:cNvPr>
          <p:cNvPicPr>
            <a:picLocks noChangeAspect="1"/>
          </p:cNvPicPr>
          <p:nvPr/>
        </p:nvPicPr>
        <p:blipFill>
          <a:blip r:embed="rId74"/>
          <a:srcRect l="0" r="0" t="0" b="0"/>
          <a:stretch/>
        </p:blipFill>
        <p:spPr>
          <a:xfrm>
            <a:off x="5386992" y="3813048"/>
            <a:ext cx="1417712" cy="344424"/>
          </a:xfrm>
          <a:prstGeom prst="rect">
            <a:avLst/>
          </a:prstGeom>
        </p:spPr>
      </p:pic>
      <p:sp>
        <p:nvSpPr>
          <p:cNvPr id="53" name="Text 26"/>
          <p:cNvSpPr/>
          <p:nvPr/>
        </p:nvSpPr>
        <p:spPr>
          <a:xfrm>
            <a:off x="5386992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AlgoMedica</a:t>
            </a:r>
            <a:endParaRPr lang="en-US" sz="900" dirty="0"/>
          </a:p>
        </p:txBody>
      </p:sp>
      <p:pic>
        <p:nvPicPr>
          <p:cNvPr id="54" name="Image 25" descr="public/logos/spectronic-medical.jpg">
            <a:hlinkClick r:id="rId78" tooltip="Spectronic Medical"/>
          </p:cNvPr>
          <p:cNvPicPr>
            <a:picLocks noChangeAspect="1"/>
          </p:cNvPicPr>
          <p:nvPr/>
        </p:nvPicPr>
        <p:blipFill>
          <a:blip r:embed="rId77"/>
          <a:srcRect l="0" r="0" t="0" b="0"/>
          <a:stretch/>
        </p:blipFill>
        <p:spPr>
          <a:xfrm>
            <a:off x="7024160" y="3813048"/>
            <a:ext cx="1417712" cy="344424"/>
          </a:xfrm>
          <a:prstGeom prst="rect">
            <a:avLst/>
          </a:prstGeom>
        </p:spPr>
      </p:pic>
      <p:sp>
        <p:nvSpPr>
          <p:cNvPr id="55" name="Text 27"/>
          <p:cNvSpPr/>
          <p:nvPr/>
        </p:nvSpPr>
        <p:spPr>
          <a:xfrm>
            <a:off x="7024160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Spectronic Medical</a:t>
            </a:r>
            <a:endParaRPr lang="en-US" sz="900" dirty="0"/>
          </a:p>
        </p:txBody>
      </p:sp>
      <p:pic>
        <p:nvPicPr>
          <p:cNvPr id="56" name="Image 26" descr="public/logos/syntheticMRI.png">
            <a:hlinkClick r:id="rId81" tooltip="SyntheticMR"/>
          </p:cNvPr>
          <p:cNvPicPr>
            <a:picLocks noChangeAspect="1"/>
          </p:cNvPicPr>
          <p:nvPr/>
        </p:nvPicPr>
        <p:blipFill>
          <a:blip r:embed="rId80"/>
          <a:srcRect l="0" r="0" t="0" b="0"/>
          <a:stretch/>
        </p:blipFill>
        <p:spPr>
          <a:xfrm>
            <a:off x="8661327" y="3813048"/>
            <a:ext cx="1417712" cy="344424"/>
          </a:xfrm>
          <a:prstGeom prst="rect">
            <a:avLst/>
          </a:prstGeom>
        </p:spPr>
      </p:pic>
      <p:sp>
        <p:nvSpPr>
          <p:cNvPr id="57" name="Text 28"/>
          <p:cNvSpPr/>
          <p:nvPr/>
        </p:nvSpPr>
        <p:spPr>
          <a:xfrm>
            <a:off x="8661327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SyntheticMR</a:t>
            </a:r>
            <a:endParaRPr lang="en-US" sz="900" dirty="0"/>
          </a:p>
        </p:txBody>
      </p:sp>
      <p:pic>
        <p:nvPicPr>
          <p:cNvPr id="58" name="Image 27" descr="public/logos/raystation.jpg">
            <a:hlinkClick r:id="rId84" tooltip="RaySearch Laboratories"/>
          </p:cNvPr>
          <p:cNvPicPr>
            <a:picLocks noChangeAspect="1"/>
          </p:cNvPicPr>
          <p:nvPr/>
        </p:nvPicPr>
        <p:blipFill>
          <a:blip r:embed="rId83"/>
          <a:srcRect l="0" r="0" t="0" b="0"/>
          <a:stretch/>
        </p:blipFill>
        <p:spPr>
          <a:xfrm>
            <a:off x="10298495" y="3813048"/>
            <a:ext cx="1417712" cy="344424"/>
          </a:xfrm>
          <a:prstGeom prst="rect">
            <a:avLst/>
          </a:prstGeom>
        </p:spPr>
      </p:pic>
      <p:sp>
        <p:nvSpPr>
          <p:cNvPr id="59" name="Text 29"/>
          <p:cNvSpPr/>
          <p:nvPr/>
        </p:nvSpPr>
        <p:spPr>
          <a:xfrm>
            <a:off x="10298495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RaySearch Laboratories</a:t>
            </a:r>
            <a:endParaRPr lang="en-US" sz="900" dirty="0"/>
          </a:p>
        </p:txBody>
      </p:sp>
      <p:pic>
        <p:nvPicPr>
          <p:cNvPr id="60" name="Image 28" descr="public/logos/airs.jpg">
            <a:hlinkClick r:id="rId87" tooltip="AIRS Medical"/>
          </p:cNvPr>
          <p:cNvPicPr>
            <a:picLocks noChangeAspect="1"/>
          </p:cNvPicPr>
          <p:nvPr/>
        </p:nvPicPr>
        <p:blipFill>
          <a:blip r:embed="rId86"/>
          <a:srcRect l="0" r="0" t="0" b="0"/>
          <a:stretch/>
        </p:blipFill>
        <p:spPr>
          <a:xfrm>
            <a:off x="475488" y="4651248"/>
            <a:ext cx="1417712" cy="344424"/>
          </a:xfrm>
          <a:prstGeom prst="rect">
            <a:avLst/>
          </a:prstGeom>
        </p:spPr>
      </p:pic>
      <p:sp>
        <p:nvSpPr>
          <p:cNvPr id="61" name="Text 30"/>
          <p:cNvSpPr/>
          <p:nvPr/>
        </p:nvSpPr>
        <p:spPr>
          <a:xfrm>
            <a:off x="475488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AIRS Medical</a:t>
            </a:r>
            <a:endParaRPr lang="en-US" sz="900" dirty="0"/>
          </a:p>
        </p:txBody>
      </p:sp>
      <p:pic>
        <p:nvPicPr>
          <p:cNvPr id="62" name="Image 29" descr="public/logos/claripi.jpg">
            <a:hlinkClick r:id="rId90" tooltip="ClariPi"/>
          </p:cNvPr>
          <p:cNvPicPr>
            <a:picLocks noChangeAspect="1"/>
          </p:cNvPicPr>
          <p:nvPr/>
        </p:nvPicPr>
        <p:blipFill>
          <a:blip r:embed="rId89"/>
          <a:srcRect l="0" r="0" t="0" b="0"/>
          <a:stretch/>
        </p:blipFill>
        <p:spPr>
          <a:xfrm>
            <a:off x="2112656" y="4651248"/>
            <a:ext cx="1417712" cy="344424"/>
          </a:xfrm>
          <a:prstGeom prst="rect">
            <a:avLst/>
          </a:prstGeom>
        </p:spPr>
      </p:pic>
      <p:sp>
        <p:nvSpPr>
          <p:cNvPr id="63" name="Text 31"/>
          <p:cNvSpPr/>
          <p:nvPr/>
        </p:nvSpPr>
        <p:spPr>
          <a:xfrm>
            <a:off x="2112656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ClariPi</a:t>
            </a:r>
            <a:endParaRPr lang="en-US" sz="900" dirty="0"/>
          </a:p>
        </p:txBody>
      </p:sp>
      <p:pic>
        <p:nvPicPr>
          <p:cNvPr id="64" name="Image 30" descr="public/logos/SubtleMedical.jpg">
            <a:hlinkClick r:id="rId93" tooltip="Subtle Medical"/>
          </p:cNvPr>
          <p:cNvPicPr>
            <a:picLocks noChangeAspect="1"/>
          </p:cNvPicPr>
          <p:nvPr/>
        </p:nvPicPr>
        <p:blipFill>
          <a:blip r:embed="rId92"/>
          <a:srcRect l="0" r="0" t="0" b="0"/>
          <a:stretch/>
        </p:blipFill>
        <p:spPr>
          <a:xfrm>
            <a:off x="3749824" y="4651248"/>
            <a:ext cx="1417712" cy="344424"/>
          </a:xfrm>
          <a:prstGeom prst="rect">
            <a:avLst/>
          </a:prstGeom>
        </p:spPr>
      </p:pic>
      <p:sp>
        <p:nvSpPr>
          <p:cNvPr id="65" name="Text 32"/>
          <p:cNvSpPr/>
          <p:nvPr/>
        </p:nvSpPr>
        <p:spPr>
          <a:xfrm>
            <a:off x="3749824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Subtle Medical</a:t>
            </a:r>
            <a:endParaRPr lang="en-US" sz="900" dirty="0"/>
          </a:p>
        </p:txBody>
      </p:sp>
      <p:pic>
        <p:nvPicPr>
          <p:cNvPr id="66" name="Image 31" descr="public/logos/ptw.jpg">
            <a:hlinkClick r:id="rId96" tooltip="PTW"/>
          </p:cNvPr>
          <p:cNvPicPr>
            <a:picLocks noChangeAspect="1"/>
          </p:cNvPicPr>
          <p:nvPr/>
        </p:nvPicPr>
        <p:blipFill>
          <a:blip r:embed="rId95"/>
          <a:srcRect l="0" r="0" t="0" b="0"/>
          <a:stretch/>
        </p:blipFill>
        <p:spPr>
          <a:xfrm>
            <a:off x="5386992" y="4651248"/>
            <a:ext cx="1417712" cy="344424"/>
          </a:xfrm>
          <a:prstGeom prst="rect">
            <a:avLst/>
          </a:prstGeom>
        </p:spPr>
      </p:pic>
      <p:sp>
        <p:nvSpPr>
          <p:cNvPr id="67" name="Text 33"/>
          <p:cNvSpPr/>
          <p:nvPr/>
        </p:nvSpPr>
        <p:spPr>
          <a:xfrm>
            <a:off x="5386992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PTW</a:t>
            </a:r>
            <a:endParaRPr lang="en-US" sz="900" dirty="0"/>
          </a:p>
        </p:txBody>
      </p:sp>
      <p:pic>
        <p:nvPicPr>
          <p:cNvPr id="68" name="Image 32" descr="public/logos/pymedix.png">
            <a:hlinkClick r:id="rId99" tooltip="PyMedix"/>
          </p:cNvPr>
          <p:cNvPicPr>
            <a:picLocks noChangeAspect="1"/>
          </p:cNvPicPr>
          <p:nvPr/>
        </p:nvPicPr>
        <p:blipFill>
          <a:blip r:embed="rId98"/>
          <a:srcRect l="0" r="0" t="0" b="0"/>
          <a:stretch/>
        </p:blipFill>
        <p:spPr>
          <a:xfrm>
            <a:off x="7024160" y="4651248"/>
            <a:ext cx="1417712" cy="344424"/>
          </a:xfrm>
          <a:prstGeom prst="rect">
            <a:avLst/>
          </a:prstGeom>
        </p:spPr>
      </p:pic>
      <p:sp>
        <p:nvSpPr>
          <p:cNvPr id="69" name="Text 34"/>
          <p:cNvSpPr/>
          <p:nvPr/>
        </p:nvSpPr>
        <p:spPr>
          <a:xfrm>
            <a:off x="7024160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PyMedix</a:t>
            </a:r>
            <a:endParaRPr lang="en-US" sz="900" dirty="0"/>
          </a:p>
        </p:txBody>
      </p:sp>
      <p:pic>
        <p:nvPicPr>
          <p:cNvPr id="70" name="Image 33" descr="public/logos/medlever.jpg">
            <a:hlinkClick r:id="rId102" tooltip="MedLever, Inc."/>
          </p:cNvPr>
          <p:cNvPicPr>
            <a:picLocks noChangeAspect="1"/>
          </p:cNvPicPr>
          <p:nvPr/>
        </p:nvPicPr>
        <p:blipFill>
          <a:blip r:embed="rId101"/>
          <a:srcRect l="0" r="0" t="0" b="0"/>
          <a:stretch/>
        </p:blipFill>
        <p:spPr>
          <a:xfrm>
            <a:off x="8661327" y="4651248"/>
            <a:ext cx="1417712" cy="344424"/>
          </a:xfrm>
          <a:prstGeom prst="rect">
            <a:avLst/>
          </a:prstGeom>
        </p:spPr>
      </p:pic>
      <p:sp>
        <p:nvSpPr>
          <p:cNvPr id="71" name="Text 35"/>
          <p:cNvSpPr/>
          <p:nvPr/>
        </p:nvSpPr>
        <p:spPr>
          <a:xfrm>
            <a:off x="8661327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MedLever, Inc.</a:t>
            </a:r>
            <a:endParaRPr lang="en-US" sz="900" dirty="0"/>
          </a:p>
        </p:txBody>
      </p:sp>
      <p:pic>
        <p:nvPicPr>
          <p:cNvPr id="72" name="Image 34" descr="public/logos/medmind.png">
            <a:hlinkClick r:id="rId105" tooltip="MedMind Technology Co., Ltd."/>
          </p:cNvPr>
          <p:cNvPicPr>
            <a:picLocks noChangeAspect="1"/>
          </p:cNvPicPr>
          <p:nvPr/>
        </p:nvPicPr>
        <p:blipFill>
          <a:blip r:embed="rId104"/>
          <a:srcRect l="0" r="0" t="0" b="0"/>
          <a:stretch/>
        </p:blipFill>
        <p:spPr>
          <a:xfrm>
            <a:off x="10298495" y="4651248"/>
            <a:ext cx="1417712" cy="344424"/>
          </a:xfrm>
          <a:prstGeom prst="rect">
            <a:avLst/>
          </a:prstGeom>
        </p:spPr>
      </p:pic>
      <p:sp>
        <p:nvSpPr>
          <p:cNvPr id="73" name="Text 36"/>
          <p:cNvSpPr/>
          <p:nvPr/>
        </p:nvSpPr>
        <p:spPr>
          <a:xfrm>
            <a:off x="10298495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MedMind Technology Co., Ltd.</a:t>
            </a:r>
            <a:endParaRPr lang="en-US" sz="900" dirty="0"/>
          </a:p>
        </p:txBody>
      </p:sp>
      <p:pic>
        <p:nvPicPr>
          <p:cNvPr id="74" name="Image 35" descr="public/logos/quanta-computer.png">
            <a:hlinkClick r:id="rId108" tooltip="Quanta Computer Inc."/>
          </p:cNvPr>
          <p:cNvPicPr>
            <a:picLocks noChangeAspect="1"/>
          </p:cNvPicPr>
          <p:nvPr/>
        </p:nvPicPr>
        <p:blipFill>
          <a:blip r:embed="rId107"/>
          <a:srcRect l="0" r="0" t="0" b="0"/>
          <a:stretch/>
        </p:blipFill>
        <p:spPr>
          <a:xfrm>
            <a:off x="475488" y="5489448"/>
            <a:ext cx="1417712" cy="344424"/>
          </a:xfrm>
          <a:prstGeom prst="rect">
            <a:avLst/>
          </a:prstGeom>
        </p:spPr>
      </p:pic>
      <p:sp>
        <p:nvSpPr>
          <p:cNvPr id="75" name="Text 37"/>
          <p:cNvSpPr/>
          <p:nvPr/>
        </p:nvSpPr>
        <p:spPr>
          <a:xfrm>
            <a:off x="475488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Quanta Computer Inc.</a:t>
            </a:r>
            <a:endParaRPr lang="en-US" sz="900" dirty="0"/>
          </a:p>
        </p:txBody>
      </p:sp>
      <p:pic>
        <p:nvPicPr>
          <p:cNvPr id="76" name="Image 36" descr="public/logos/Elekta.png">
            <a:hlinkClick r:id="rId111" tooltip="Elekta"/>
          </p:cNvPr>
          <p:cNvPicPr>
            <a:picLocks noChangeAspect="1"/>
          </p:cNvPicPr>
          <p:nvPr/>
        </p:nvPicPr>
        <p:blipFill>
          <a:blip r:embed="rId110"/>
          <a:srcRect l="0" r="0" t="0" b="0"/>
          <a:stretch/>
        </p:blipFill>
        <p:spPr>
          <a:xfrm>
            <a:off x="2112656" y="5489448"/>
            <a:ext cx="1417712" cy="344424"/>
          </a:xfrm>
          <a:prstGeom prst="rect">
            <a:avLst/>
          </a:prstGeom>
        </p:spPr>
      </p:pic>
      <p:sp>
        <p:nvSpPr>
          <p:cNvPr id="77" name="Text 38"/>
          <p:cNvSpPr/>
          <p:nvPr/>
        </p:nvSpPr>
        <p:spPr>
          <a:xfrm>
            <a:off x="2112656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Elekta</a:t>
            </a:r>
            <a:endParaRPr lang="en-US" sz="900" dirty="0"/>
          </a:p>
        </p:txBody>
      </p:sp>
      <p:pic>
        <p:nvPicPr>
          <p:cNvPr id="78" name="Image 37" descr="public/logos/accuray.png">
            <a:hlinkClick r:id="rId114" tooltip="Accuray®"/>
          </p:cNvPr>
          <p:cNvPicPr>
            <a:picLocks noChangeAspect="1"/>
          </p:cNvPicPr>
          <p:nvPr/>
        </p:nvPicPr>
        <p:blipFill>
          <a:blip r:embed="rId113"/>
          <a:srcRect l="0" r="0" t="0" b="0"/>
          <a:stretch/>
        </p:blipFill>
        <p:spPr>
          <a:xfrm>
            <a:off x="3749824" y="5489448"/>
            <a:ext cx="1417712" cy="344424"/>
          </a:xfrm>
          <a:prstGeom prst="rect">
            <a:avLst/>
          </a:prstGeom>
        </p:spPr>
      </p:pic>
      <p:sp>
        <p:nvSpPr>
          <p:cNvPr id="79" name="Text 39"/>
          <p:cNvSpPr/>
          <p:nvPr/>
        </p:nvSpPr>
        <p:spPr>
          <a:xfrm>
            <a:off x="3749824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Accuray®</a:t>
            </a:r>
            <a:endParaRPr lang="en-US" sz="900" dirty="0"/>
          </a:p>
        </p:txBody>
      </p:sp>
      <p:pic>
        <p:nvPicPr>
          <p:cNvPr id="80" name="Image 38" descr="public/logos/SunNuclear.png">
            <a:hlinkClick r:id="rId117" tooltip="Sun Nuclear (Mirion Medical)"/>
          </p:cNvPr>
          <p:cNvPicPr>
            <a:picLocks noChangeAspect="1"/>
          </p:cNvPicPr>
          <p:nvPr/>
        </p:nvPicPr>
        <p:blipFill>
          <a:blip r:embed="rId116"/>
          <a:srcRect l="0" r="0" t="0" b="0"/>
          <a:stretch/>
        </p:blipFill>
        <p:spPr>
          <a:xfrm>
            <a:off x="5386992" y="5489448"/>
            <a:ext cx="1417712" cy="344424"/>
          </a:xfrm>
          <a:prstGeom prst="rect">
            <a:avLst/>
          </a:prstGeom>
        </p:spPr>
      </p:pic>
      <p:sp>
        <p:nvSpPr>
          <p:cNvPr id="81" name="Text 40"/>
          <p:cNvSpPr/>
          <p:nvPr/>
        </p:nvSpPr>
        <p:spPr>
          <a:xfrm>
            <a:off x="5386992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 Nuclear (Mirion Medical)</a:t>
            </a:r>
            <a:endParaRPr lang="en-US" sz="900" dirty="0"/>
          </a:p>
        </p:txBody>
      </p:sp>
      <p:pic>
        <p:nvPicPr>
          <p:cNvPr id="82" name="Image 39" descr="public/newsletters/2026-06/_logo-cache/md_anderson.png">
            <a:hlinkClick r:id="rId120" tooltip="MD Anderson Cancer Center"/>
          </p:cNvPr>
          <p:cNvPicPr>
            <a:picLocks noChangeAspect="1"/>
          </p:cNvPicPr>
          <p:nvPr/>
        </p:nvPicPr>
        <p:blipFill>
          <a:blip r:embed="rId119"/>
          <a:srcRect l="0" r="0" t="0" b="0"/>
          <a:stretch/>
        </p:blipFill>
        <p:spPr>
          <a:xfrm>
            <a:off x="7024160" y="5489448"/>
            <a:ext cx="1417712" cy="344424"/>
          </a:xfrm>
          <a:prstGeom prst="rect">
            <a:avLst/>
          </a:prstGeom>
        </p:spPr>
      </p:pic>
      <p:sp>
        <p:nvSpPr>
          <p:cNvPr id="83" name="Text 41"/>
          <p:cNvSpPr/>
          <p:nvPr/>
        </p:nvSpPr>
        <p:spPr>
          <a:xfrm>
            <a:off x="7024160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Anderson Cancer Center</a:t>
            </a:r>
            <a:endParaRPr lang="en-US" sz="900" dirty="0"/>
          </a:p>
        </p:txBody>
      </p:sp>
      <p:pic>
        <p:nvPicPr>
          <p:cNvPr id="84" name="Image 40" descr="public/logos/Brainlab.jpg">
            <a:hlinkClick r:id="rId123" tooltip="Brainlab"/>
          </p:cNvPr>
          <p:cNvPicPr>
            <a:picLocks noChangeAspect="1"/>
          </p:cNvPicPr>
          <p:nvPr/>
        </p:nvPicPr>
        <p:blipFill>
          <a:blip r:embed="rId122"/>
          <a:srcRect l="0" r="0" t="0" b="0"/>
          <a:stretch/>
        </p:blipFill>
        <p:spPr>
          <a:xfrm>
            <a:off x="8661327" y="5489448"/>
            <a:ext cx="1417712" cy="344424"/>
          </a:xfrm>
          <a:prstGeom prst="rect">
            <a:avLst/>
          </a:prstGeom>
        </p:spPr>
      </p:pic>
      <p:sp>
        <p:nvSpPr>
          <p:cNvPr id="85" name="Text 42"/>
          <p:cNvSpPr/>
          <p:nvPr/>
        </p:nvSpPr>
        <p:spPr>
          <a:xfrm>
            <a:off x="8661327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Brainlab</a:t>
            </a:r>
            <a:endParaRPr lang="en-US" sz="900" dirty="0"/>
          </a:p>
        </p:txBody>
      </p:sp>
      <p:pic>
        <p:nvPicPr>
          <p:cNvPr id="86" name="Image 41" descr="public/logos/varian.jpg">
            <a:hlinkClick r:id="rId126" tooltip="Varian (Siemens Healthineers)"/>
          </p:cNvPr>
          <p:cNvPicPr>
            <a:picLocks noChangeAspect="1"/>
          </p:cNvPicPr>
          <p:nvPr/>
        </p:nvPicPr>
        <p:blipFill>
          <a:blip r:embed="rId125"/>
          <a:srcRect l="0" r="0" t="0" b="0"/>
          <a:stretch/>
        </p:blipFill>
        <p:spPr>
          <a:xfrm>
            <a:off x="10298495" y="5489448"/>
            <a:ext cx="1417712" cy="344424"/>
          </a:xfrm>
          <a:prstGeom prst="rect">
            <a:avLst/>
          </a:prstGeom>
        </p:spPr>
      </p:pic>
      <p:sp>
        <p:nvSpPr>
          <p:cNvPr id="87" name="Text 43"/>
          <p:cNvSpPr/>
          <p:nvPr/>
        </p:nvSpPr>
        <p:spPr>
          <a:xfrm>
            <a:off x="10298495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Varian (Siemens Healthineers)</a:t>
            </a:r>
            <a:endParaRPr lang="en-US" sz="900" dirty="0"/>
          </a:p>
        </p:txBody>
      </p:sp>
      <p:pic>
        <p:nvPicPr>
          <p:cNvPr id="88" name="Image 42" descr="public/newsletters/2026-06/_assets/dlinrt-logo.png">
            <a:hlinkClick r:id="rId129" tooltip="dlinrt.eu"/>
          </p:cNvPr>
          <p:cNvPicPr>
            <a:picLocks noChangeAspect="1"/>
          </p:cNvPicPr>
          <p:nvPr/>
        </p:nvPicPr>
        <p:blipFill>
          <a:blip r:embed="rId128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89" name="Text 4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90" name="Image 43" descr="public/newsletters/2026-06/_assets/linkedin.png">
            <a:hlinkClick r:id="rId132" tooltip="DLinRT on LinkedIn"/>
          </p:cNvPr>
          <p:cNvPicPr>
            <a:picLocks noChangeAspect="1"/>
          </p:cNvPicPr>
          <p:nvPr/>
        </p:nvPicPr>
        <p:blipFill>
          <a:blip r:embed="rId131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2004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Support, Transparency &amp; People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Utrecht backs the platform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Radiotherapy Medical Physics Traineeship, UMC Utrecht has agreed to cover the running costs of DLinRT.eu — safeguarding the independence and continuity of the initiative. A huge thank you to the Radiotherapy Department for this support.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costs, in the open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our running costs and keep them up to date at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dlinrt.eu/transparency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Szabolcs David · thanks to all 12 reviewers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welcome to Szabolcs David, who joins the reviewer team. Huge thanks to all 12 reviewers keeping the catalogue trustworthy — full list on the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 page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Errare humanum 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strive for accuracy and, alongside the AI tooling, we still value human revision. If you spot an imprecision or error, please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reach out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will take action.</a:t>
            </a:r>
            <a:endParaRPr lang="en-US" sz="1600" dirty="0"/>
          </a:p>
        </p:txBody>
      </p:sp>
      <p:pic>
        <p:nvPicPr>
          <p:cNvPr id="12" name="Image 0" descr="public/newsletters/2026-06/_assets/dlinrt-logo.png">
            <a:hlinkClick r:id="rId6" tooltip="dlinrt.eu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4" name="Image 1" descr="public/newsletters/2026-06/_assets/linkedin.png">
            <a:hlinkClick r:id="rId9" tooltip="DLinRT on LinkedIn"/>
      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Save the date · DLinRT workshop, Utrecht · March 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 will support the organisation of a two-day international workshop in Utrecht around March 2026. Dates and venue are being finalised — details will follow around September on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dlinrt.org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Certification round opens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first certified, two CE-marked products. Congratulations.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MAIRT @ MICCAI · Oct 1,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miart-workshop.github.io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0690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review round · Nov 1 → Dec 15, 2026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 in touch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3-axis evidence system live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39496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Evidence Matrix to see how the catalogue distributes across rigor (E0–E3) and impact (I0–I5):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dlinrt.eu/dashboard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2026-06-16T20:30:07Z</dcterms:created>
  <dcterms:modified xsi:type="dcterms:W3CDTF">2026-06-16T20:30:07Z</dcterms:modified>
</cp:coreProperties>
</file>