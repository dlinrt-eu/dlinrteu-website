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products</c:v>
                </c:pt>
              </c:strCache>
            </c:strRef>
          </c:tx>
          <c:spPr>
            <a:solidFill>
              <a:srgbClr val="5090D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</c:v>
                </c:pt>
                <c:pt idx="1">
                  <c:v>3</c:v>
                </c:pt>
                <c:pt idx="2">
                  <c:v>6</c:v>
                </c:pt>
                <c:pt idx="3">
                  <c:v>10</c:v>
                </c:pt>
                <c:pt idx="4">
                  <c:v>14</c:v>
                </c:pt>
                <c:pt idx="5">
                  <c:v>21</c:v>
                </c:pt>
                <c:pt idx="6">
                  <c:v>31</c:v>
                </c:pt>
                <c:pt idx="7">
                  <c:v>43</c:v>
                </c:pt>
                <c:pt idx="8">
                  <c:v>51</c:v>
                </c:pt>
                <c:pt idx="9">
                  <c:v>68</c:v>
                </c:pt>
                <c:pt idx="10">
                  <c:v>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090D0"/>
              </a:solidFill>
              <a:effectLst/>
            </c:spPr>
          </c:dPt>
          <c:dPt>
            <c:idx val="1"/>
            <c:bubble3D val="0"/>
            <c:spPr>
              <a:solidFill>
                <a:srgbClr val="1A1A2E"/>
              </a:solidFill>
              <a:effectLst/>
            </c:spPr>
          </c:dPt>
          <c:dPt>
            <c:idx val="2"/>
            <c:bubble3D val="0"/>
            <c:spPr>
              <a:solidFill>
                <a:srgbClr val="7DB9E8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bubble3D val="0"/>
            <c:spPr>
              <a:solidFill>
                <a:srgbClr val="10B981"/>
              </a:solidFill>
              <a:effectLst/>
            </c:spPr>
          </c:dPt>
          <c:dPt>
            <c:idx val="5"/>
            <c:bubble3D val="0"/>
            <c:spPr>
              <a:solidFill>
                <a:srgbClr val="EF4444"/>
              </a:solidFill>
              <a:effectLst/>
            </c:spPr>
          </c:dPt>
          <c:dPt>
            <c:idx val="6"/>
            <c:bubble3D val="0"/>
            <c:spPr>
              <a:solidFill>
                <a:srgbClr val="8B5CF6"/>
              </a:solidFill>
              <a:effectLst/>
            </c:spPr>
          </c:dPt>
          <c:dPt>
            <c:idx val="7"/>
            <c:bubble3D val="0"/>
            <c:spPr>
              <a:solidFill>
                <a:srgbClr val="0EA5E9"/>
              </a:solidFill>
              <a:effectLst/>
            </c:spPr>
          </c:dPt>
          <c:dPt>
            <c:idx val="8"/>
            <c:bubble3D val="0"/>
            <c:spPr>
              <a:solidFill>
                <a:srgbClr val="EC489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8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Sheet1!$A$2:$A$10</c:f>
              <c:strCache>
                <c:ptCount val="9"/>
                <c:pt idx="0">
                  <c:v>Auto-Contouring</c:v>
                </c:pt>
                <c:pt idx="1">
                  <c:v>Image Enhancement</c:v>
                </c:pt>
                <c:pt idx="2">
                  <c:v>Reconstruction</c:v>
                </c:pt>
                <c:pt idx="3">
                  <c:v>Image Synthesis</c:v>
                </c:pt>
                <c:pt idx="4">
                  <c:v>Treatment Planning</c:v>
                </c:pt>
                <c:pt idx="5">
                  <c:v>Platform</c:v>
                </c:pt>
                <c:pt idx="6">
                  <c:v>Registration</c:v>
                </c:pt>
                <c:pt idx="7">
                  <c:v>Performance Monitor</c:v>
                </c:pt>
                <c:pt idx="8">
                  <c:v>Tracking</c:v>
                </c:pt>
              </c:strCache>
            </c:strRef>
          </c:cat>
          <c:val>
            <c:numRef>
              <c:f>Sheet1!$B$2:$B$10</c:f>
              <c:numCache>
                <c:ptCount val="9"/>
                <c:pt idx="0">
                  <c:v>33</c:v>
                </c:pt>
                <c:pt idx="1">
                  <c:v>14</c:v>
                </c:pt>
                <c:pt idx="2">
                  <c:v>13</c:v>
                </c:pt>
                <c:pt idx="3">
                  <c:v>8</c:v>
                </c:pt>
                <c:pt idx="4">
                  <c:v>8</c:v>
                </c:pt>
                <c:pt idx="5">
                  <c:v>6</c:v>
                </c:pt>
                <c:pt idx="6">
                  <c:v>2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4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dlinrt.eu" TargetMode="External"/><Relationship Id="rId3" Type="http://schemas.openxmlformats.org/officeDocument/2006/relationships/hyperlink" Target="https://dlinrt.eu" TargetMode="External"/><Relationship Id="rId4" Type="http://schemas.openxmlformats.org/officeDocument/2006/relationships/hyperlink" Target="https://creativecommons.org/licenses/by/4.0/" TargetMode="External"/><Relationship Id="rId6" Type="http://schemas.openxmlformats.org/officeDocument/2006/relationships/hyperlink" Target="https://www.linkedin.com/company/dlinrt-eu/" TargetMode="External"/><Relationship Id="rId2" Type="http://schemas.openxmlformats.org/officeDocument/2006/relationships/image" Target="../media/image-1-1.png"/><Relationship Id="rId5" Type="http://schemas.openxmlformats.org/officeDocument/2006/relationships/image" Target="../media/image-1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dlinrt.eu/products" TargetMode="External"/><Relationship Id="rId4" Type="http://schemas.openxmlformats.org/officeDocument/2006/relationships/hyperlink" Target="https://dlinrt.eu" TargetMode="External"/><Relationship Id="rId5" Type="http://schemas.openxmlformats.org/officeDocument/2006/relationships/hyperlink" Target="https://creativecommons.org/licenses/by/4.0/" TargetMode="External"/><Relationship Id="rId7" Type="http://schemas.openxmlformats.org/officeDocument/2006/relationships/hyperlink" Target="https://www.linkedin.com/company/dlinrt-eu/" TargetMode="External"/><Relationship Id="rId2" Type="http://schemas.openxmlformats.org/officeDocument/2006/relationships/chart" Target="/ppt/charts/chart1.xml"/><Relationship Id="rId3" Type="http://schemas.openxmlformats.org/officeDocument/2006/relationships/image" Target="../media/image-2-1.png"/><Relationship Id="rId6" Type="http://schemas.openxmlformats.org/officeDocument/2006/relationships/image" Target="../media/image-2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dlinrt.eu/products" TargetMode="External"/><Relationship Id="rId3" Type="http://schemas.openxmlformats.org/officeDocument/2006/relationships/hyperlink" Target="https://dlinrt.eu/products?category=Auto-Contouring" TargetMode="External"/><Relationship Id="rId4" Type="http://schemas.openxmlformats.org/officeDocument/2006/relationships/hyperlink" Target="https://dlinrt.eu/products?category=Image%20Enhancement" TargetMode="External"/><Relationship Id="rId5" Type="http://schemas.openxmlformats.org/officeDocument/2006/relationships/hyperlink" Target="https://dlinrt.eu/products?category=Reconstruction" TargetMode="External"/><Relationship Id="rId6" Type="http://schemas.openxmlformats.org/officeDocument/2006/relationships/hyperlink" Target="https://dlinrt.eu/products?category=Image%20Synthesis" TargetMode="External"/><Relationship Id="rId7" Type="http://schemas.openxmlformats.org/officeDocument/2006/relationships/hyperlink" Target="https://dlinrt.eu/products?category=Treatment%20Planning" TargetMode="External"/><Relationship Id="rId8" Type="http://schemas.openxmlformats.org/officeDocument/2006/relationships/hyperlink" Target="https://dlinrt.eu/products?category=Platform" TargetMode="External"/><Relationship Id="rId9" Type="http://schemas.openxmlformats.org/officeDocument/2006/relationships/hyperlink" Target="https://dlinrt.eu/products?category=Registration" TargetMode="External"/><Relationship Id="rId10" Type="http://schemas.openxmlformats.org/officeDocument/2006/relationships/hyperlink" Target="https://dlinrt.eu/products?category=Performance%20Monitor" TargetMode="External"/><Relationship Id="rId11" Type="http://schemas.openxmlformats.org/officeDocument/2006/relationships/hyperlink" Target="https://dlinrt.eu/products?category=Tracking" TargetMode="External"/><Relationship Id="rId13" Type="http://schemas.openxmlformats.org/officeDocument/2006/relationships/hyperlink" Target="https://dlinrt.eu" TargetMode="External"/><Relationship Id="rId14" Type="http://schemas.openxmlformats.org/officeDocument/2006/relationships/hyperlink" Target="https://creativecommons.org/licenses/by/4.0/" TargetMode="External"/><Relationship Id="rId16" Type="http://schemas.openxmlformats.org/officeDocument/2006/relationships/hyperlink" Target="https://www.linkedin.com/company/dlinrt-eu/" TargetMode="External"/><Relationship Id="rId2" Type="http://schemas.openxmlformats.org/officeDocument/2006/relationships/chart" Target="/ppt/charts/chart2.xml"/><Relationship Id="rId12" Type="http://schemas.openxmlformats.org/officeDocument/2006/relationships/image" Target="../media/image-3-1.png"/><Relationship Id="rId15" Type="http://schemas.openxmlformats.org/officeDocument/2006/relationships/image" Target="../media/image-3-2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dlinrt.eu/companies" TargetMode="External"/><Relationship Id="rId3" Type="http://schemas.openxmlformats.org/officeDocument/2006/relationships/hyperlink" Target="https://dlinrt.eu/products/company/neuralrad" TargetMode="External"/><Relationship Id="rId4" Type="http://schemas.openxmlformats.org/officeDocument/2006/relationships/hyperlink" Target="https://dlinrt.eu/products/company/neuralrad" TargetMode="External"/><Relationship Id="rId6" Type="http://schemas.openxmlformats.org/officeDocument/2006/relationships/hyperlink" Target="https://dlinrt.eu/products/company/ai-medical" TargetMode="External"/><Relationship Id="rId7" Type="http://schemas.openxmlformats.org/officeDocument/2006/relationships/hyperlink" Target="https://dlinrt.eu/products/company/ai-medical" TargetMode="External"/><Relationship Id="rId9" Type="http://schemas.openxmlformats.org/officeDocument/2006/relationships/hyperlink" Target="https://dlinrt.eu/products/company/carina-ai" TargetMode="External"/><Relationship Id="rId10" Type="http://schemas.openxmlformats.org/officeDocument/2006/relationships/hyperlink" Target="https://dlinrt.eu/products/company/carina-ai" TargetMode="External"/><Relationship Id="rId12" Type="http://schemas.openxmlformats.org/officeDocument/2006/relationships/hyperlink" Target="https://dlinrt.eu/products/company/coreline-soft" TargetMode="External"/><Relationship Id="rId13" Type="http://schemas.openxmlformats.org/officeDocument/2006/relationships/hyperlink" Target="https://dlinrt.eu/products/company/coreline-soft" TargetMode="External"/><Relationship Id="rId15" Type="http://schemas.openxmlformats.org/officeDocument/2006/relationships/hyperlink" Target="https://dlinrt.eu/products/company/everfortune-ai" TargetMode="External"/><Relationship Id="rId16" Type="http://schemas.openxmlformats.org/officeDocument/2006/relationships/hyperlink" Target="https://dlinrt.eu/products/company/everfortune-ai" TargetMode="External"/><Relationship Id="rId18" Type="http://schemas.openxmlformats.org/officeDocument/2006/relationships/hyperlink" Target="https://dlinrt.eu/products/company/hura-imaging" TargetMode="External"/><Relationship Id="rId19" Type="http://schemas.openxmlformats.org/officeDocument/2006/relationships/hyperlink" Target="https://dlinrt.eu/products/company/hura-imaging" TargetMode="External"/><Relationship Id="rId21" Type="http://schemas.openxmlformats.org/officeDocument/2006/relationships/hyperlink" Target="https://dlinrt.eu/products/company/limbus-ai" TargetMode="External"/><Relationship Id="rId22" Type="http://schemas.openxmlformats.org/officeDocument/2006/relationships/hyperlink" Target="https://dlinrt.eu/products/company/limbus-ai" TargetMode="External"/><Relationship Id="rId24" Type="http://schemas.openxmlformats.org/officeDocument/2006/relationships/hyperlink" Target="https://dlinrt.eu/products/company/manteia" TargetMode="External"/><Relationship Id="rId25" Type="http://schemas.openxmlformats.org/officeDocument/2006/relationships/hyperlink" Target="https://dlinrt.eu/products/company/manteia" TargetMode="External"/><Relationship Id="rId27" Type="http://schemas.openxmlformats.org/officeDocument/2006/relationships/hyperlink" Target="https://dlinrt.eu/products/company/mim-software" TargetMode="External"/><Relationship Id="rId28" Type="http://schemas.openxmlformats.org/officeDocument/2006/relationships/hyperlink" Target="https://dlinrt.eu/products/company/mim-software" TargetMode="External"/><Relationship Id="rId30" Type="http://schemas.openxmlformats.org/officeDocument/2006/relationships/hyperlink" Target="https://dlinrt.eu/products/company/mirada-medical" TargetMode="External"/><Relationship Id="rId31" Type="http://schemas.openxmlformats.org/officeDocument/2006/relationships/hyperlink" Target="https://dlinrt.eu/products/company/mirada-medical" TargetMode="External"/><Relationship Id="rId33" Type="http://schemas.openxmlformats.org/officeDocument/2006/relationships/hyperlink" Target="https://dlinrt.eu/products/company/mvision-ai" TargetMode="External"/><Relationship Id="rId34" Type="http://schemas.openxmlformats.org/officeDocument/2006/relationships/hyperlink" Target="https://dlinrt.eu/products/company/mvision-ai" TargetMode="External"/><Relationship Id="rId36" Type="http://schemas.openxmlformats.org/officeDocument/2006/relationships/hyperlink" Target="https://dlinrt.eu/products/company/radformation" TargetMode="External"/><Relationship Id="rId37" Type="http://schemas.openxmlformats.org/officeDocument/2006/relationships/hyperlink" Target="https://dlinrt.eu/products/company/radformation" TargetMode="External"/><Relationship Id="rId39" Type="http://schemas.openxmlformats.org/officeDocument/2006/relationships/hyperlink" Target="https://dlinrt.eu/products/company/synaptiq" TargetMode="External"/><Relationship Id="rId40" Type="http://schemas.openxmlformats.org/officeDocument/2006/relationships/hyperlink" Target="https://dlinrt.eu/products/company/synaptiq" TargetMode="External"/><Relationship Id="rId42" Type="http://schemas.openxmlformats.org/officeDocument/2006/relationships/hyperlink" Target="https://dlinrt.eu/products/company/therapanacea" TargetMode="External"/><Relationship Id="rId43" Type="http://schemas.openxmlformats.org/officeDocument/2006/relationships/hyperlink" Target="https://dlinrt.eu/products/company/therapanacea" TargetMode="External"/><Relationship Id="rId45" Type="http://schemas.openxmlformats.org/officeDocument/2006/relationships/hyperlink" Target="https://dlinrt.eu/products/company/vysioner" TargetMode="External"/><Relationship Id="rId46" Type="http://schemas.openxmlformats.org/officeDocument/2006/relationships/hyperlink" Target="https://dlinrt.eu/products/company/vysioner" TargetMode="External"/><Relationship Id="rId48" Type="http://schemas.openxmlformats.org/officeDocument/2006/relationships/hyperlink" Target="https://dlinrt.eu/products/company/wisdom-tech" TargetMode="External"/><Relationship Id="rId49" Type="http://schemas.openxmlformats.org/officeDocument/2006/relationships/hyperlink" Target="https://dlinrt.eu/products/company/wisdom-tech" TargetMode="External"/><Relationship Id="rId51" Type="http://schemas.openxmlformats.org/officeDocument/2006/relationships/hyperlink" Target="https://dlinrt.eu/products/company/oncosoft" TargetMode="External"/><Relationship Id="rId52" Type="http://schemas.openxmlformats.org/officeDocument/2006/relationships/hyperlink" Target="https://dlinrt.eu/products/company/oncosoft" TargetMode="External"/><Relationship Id="rId54" Type="http://schemas.openxmlformats.org/officeDocument/2006/relationships/hyperlink" Target="https://dlinrt.eu/products/company/medcom" TargetMode="External"/><Relationship Id="rId55" Type="http://schemas.openxmlformats.org/officeDocument/2006/relationships/hyperlink" Target="https://dlinrt.eu/products/company/medcom" TargetMode="External"/><Relationship Id="rId57" Type="http://schemas.openxmlformats.org/officeDocument/2006/relationships/hyperlink" Target="https://dlinrt.eu/products/company/ge-healthcare" TargetMode="External"/><Relationship Id="rId58" Type="http://schemas.openxmlformats.org/officeDocument/2006/relationships/hyperlink" Target="https://dlinrt.eu/products/company/ge-healthcare" TargetMode="External"/><Relationship Id="rId60" Type="http://schemas.openxmlformats.org/officeDocument/2006/relationships/hyperlink" Target="https://dlinrt.eu/products/company/philips-healthcare" TargetMode="External"/><Relationship Id="rId61" Type="http://schemas.openxmlformats.org/officeDocument/2006/relationships/hyperlink" Target="https://dlinrt.eu/products/company/philips-healthcare" TargetMode="External"/><Relationship Id="rId63" Type="http://schemas.openxmlformats.org/officeDocument/2006/relationships/hyperlink" Target="https://dlinrt.eu/products/company/siemens-healthineers" TargetMode="External"/><Relationship Id="rId64" Type="http://schemas.openxmlformats.org/officeDocument/2006/relationships/hyperlink" Target="https://dlinrt.eu/products/company/siemens-healthineers" TargetMode="External"/><Relationship Id="rId66" Type="http://schemas.openxmlformats.org/officeDocument/2006/relationships/hyperlink" Target="https://dlinrt.eu/products/company/canon-medical" TargetMode="External"/><Relationship Id="rId67" Type="http://schemas.openxmlformats.org/officeDocument/2006/relationships/hyperlink" Target="https://dlinrt.eu/products/company/canon-medical" TargetMode="External"/><Relationship Id="rId69" Type="http://schemas.openxmlformats.org/officeDocument/2006/relationships/hyperlink" Target="https://dlinrt.eu/products/company/united-imaging" TargetMode="External"/><Relationship Id="rId70" Type="http://schemas.openxmlformats.org/officeDocument/2006/relationships/hyperlink" Target="https://dlinrt.eu/products/company/united-imaging" TargetMode="External"/><Relationship Id="rId72" Type="http://schemas.openxmlformats.org/officeDocument/2006/relationships/hyperlink" Target="https://dlinrt.eu/products/company/taiwan-medical-imaging" TargetMode="External"/><Relationship Id="rId73" Type="http://schemas.openxmlformats.org/officeDocument/2006/relationships/hyperlink" Target="https://dlinrt.eu/products/company/taiwan-medical-imaging" TargetMode="External"/><Relationship Id="rId75" Type="http://schemas.openxmlformats.org/officeDocument/2006/relationships/hyperlink" Target="https://dlinrt.eu/products/company/algomedica" TargetMode="External"/><Relationship Id="rId76" Type="http://schemas.openxmlformats.org/officeDocument/2006/relationships/hyperlink" Target="https://dlinrt.eu/products/company/algomedica" TargetMode="External"/><Relationship Id="rId78" Type="http://schemas.openxmlformats.org/officeDocument/2006/relationships/hyperlink" Target="https://dlinrt.eu/products/company/spectronic-medical" TargetMode="External"/><Relationship Id="rId79" Type="http://schemas.openxmlformats.org/officeDocument/2006/relationships/hyperlink" Target="https://dlinrt.eu/products/company/spectronic-medical" TargetMode="External"/><Relationship Id="rId81" Type="http://schemas.openxmlformats.org/officeDocument/2006/relationships/hyperlink" Target="https://dlinrt.eu/products/company/raysearch" TargetMode="External"/><Relationship Id="rId82" Type="http://schemas.openxmlformats.org/officeDocument/2006/relationships/hyperlink" Target="https://dlinrt.eu/products/company/raysearch" TargetMode="External"/><Relationship Id="rId84" Type="http://schemas.openxmlformats.org/officeDocument/2006/relationships/hyperlink" Target="https://dlinrt.eu/products/company/airs-medical" TargetMode="External"/><Relationship Id="rId85" Type="http://schemas.openxmlformats.org/officeDocument/2006/relationships/hyperlink" Target="https://dlinrt.eu/products/company/airs-medical" TargetMode="External"/><Relationship Id="rId87" Type="http://schemas.openxmlformats.org/officeDocument/2006/relationships/hyperlink" Target="https://dlinrt.eu/products/company/claripi" TargetMode="External"/><Relationship Id="rId88" Type="http://schemas.openxmlformats.org/officeDocument/2006/relationships/hyperlink" Target="https://dlinrt.eu/products/company/claripi" TargetMode="External"/><Relationship Id="rId90" Type="http://schemas.openxmlformats.org/officeDocument/2006/relationships/hyperlink" Target="https://dlinrt.eu/products/company/subtle-medical" TargetMode="External"/><Relationship Id="rId91" Type="http://schemas.openxmlformats.org/officeDocument/2006/relationships/hyperlink" Target="https://dlinrt.eu/products/company/subtle-medical" TargetMode="External"/><Relationship Id="rId93" Type="http://schemas.openxmlformats.org/officeDocument/2006/relationships/hyperlink" Target="https://dlinrt.eu/products/company/ptw-dosimetry" TargetMode="External"/><Relationship Id="rId94" Type="http://schemas.openxmlformats.org/officeDocument/2006/relationships/hyperlink" Target="https://dlinrt.eu/products/company/ptw-dosimetry" TargetMode="External"/><Relationship Id="rId96" Type="http://schemas.openxmlformats.org/officeDocument/2006/relationships/hyperlink" Target="https://dlinrt.eu/products/company/pymedix" TargetMode="External"/><Relationship Id="rId97" Type="http://schemas.openxmlformats.org/officeDocument/2006/relationships/hyperlink" Target="https://dlinrt.eu/products/company/pymedix" TargetMode="External"/><Relationship Id="rId99" Type="http://schemas.openxmlformats.org/officeDocument/2006/relationships/hyperlink" Target="https://dlinrt.eu/products/company/medlever" TargetMode="External"/><Relationship Id="rId100" Type="http://schemas.openxmlformats.org/officeDocument/2006/relationships/hyperlink" Target="https://dlinrt.eu/products/company/medlever" TargetMode="External"/><Relationship Id="rId102" Type="http://schemas.openxmlformats.org/officeDocument/2006/relationships/hyperlink" Target="https://dlinrt.eu/products/company/medmind-technology" TargetMode="External"/><Relationship Id="rId103" Type="http://schemas.openxmlformats.org/officeDocument/2006/relationships/hyperlink" Target="https://dlinrt.eu/products/company/medmind-technology" TargetMode="External"/><Relationship Id="rId105" Type="http://schemas.openxmlformats.org/officeDocument/2006/relationships/hyperlink" Target="https://dlinrt.eu/products/company/quanta-computer" TargetMode="External"/><Relationship Id="rId106" Type="http://schemas.openxmlformats.org/officeDocument/2006/relationships/hyperlink" Target="https://dlinrt.eu/products/company/quanta-computer" TargetMode="External"/><Relationship Id="rId108" Type="http://schemas.openxmlformats.org/officeDocument/2006/relationships/hyperlink" Target="https://dlinrt.eu/products/company/elekta" TargetMode="External"/><Relationship Id="rId109" Type="http://schemas.openxmlformats.org/officeDocument/2006/relationships/hyperlink" Target="https://dlinrt.eu/products/company/elekta" TargetMode="External"/><Relationship Id="rId111" Type="http://schemas.openxmlformats.org/officeDocument/2006/relationships/hyperlink" Target="https://dlinrt.eu/products/company/accuray" TargetMode="External"/><Relationship Id="rId112" Type="http://schemas.openxmlformats.org/officeDocument/2006/relationships/hyperlink" Target="https://dlinrt.eu/products/company/accuray" TargetMode="External"/><Relationship Id="rId114" Type="http://schemas.openxmlformats.org/officeDocument/2006/relationships/hyperlink" Target="https://dlinrt.eu/products/company/sun-nuclear" TargetMode="External"/><Relationship Id="rId115" Type="http://schemas.openxmlformats.org/officeDocument/2006/relationships/hyperlink" Target="https://dlinrt.eu/products/company/sun-nuclear" TargetMode="External"/><Relationship Id="rId117" Type="http://schemas.openxmlformats.org/officeDocument/2006/relationships/hyperlink" Target="https://dlinrt.eu/products/company/md-anderson" TargetMode="External"/><Relationship Id="rId118" Type="http://schemas.openxmlformats.org/officeDocument/2006/relationships/hyperlink" Target="https://dlinrt.eu/products/company/md-anderson" TargetMode="External"/><Relationship Id="rId120" Type="http://schemas.openxmlformats.org/officeDocument/2006/relationships/hyperlink" Target="https://dlinrt.eu/products/company/brainlab" TargetMode="External"/><Relationship Id="rId121" Type="http://schemas.openxmlformats.org/officeDocument/2006/relationships/hyperlink" Target="https://dlinrt.eu/products/company/brainlab" TargetMode="External"/><Relationship Id="rId123" Type="http://schemas.openxmlformats.org/officeDocument/2006/relationships/hyperlink" Target="https://dlinrt.eu/products/company/varian" TargetMode="External"/><Relationship Id="rId124" Type="http://schemas.openxmlformats.org/officeDocument/2006/relationships/hyperlink" Target="https://dlinrt.eu/products/company/varian" TargetMode="External"/><Relationship Id="rId126" Type="http://schemas.openxmlformats.org/officeDocument/2006/relationships/hyperlink" Target="https://dlinrt.eu" TargetMode="External"/><Relationship Id="rId127" Type="http://schemas.openxmlformats.org/officeDocument/2006/relationships/hyperlink" Target="https://creativecommons.org/licenses/by/4.0/" TargetMode="External"/><Relationship Id="rId129" Type="http://schemas.openxmlformats.org/officeDocument/2006/relationships/hyperlink" Target="https://www.linkedin.com/company/dlinrt-eu/" TargetMode="External"/><Relationship Id="rId2" Type="http://schemas.openxmlformats.org/officeDocument/2006/relationships/image" Target="../media/image-4-1.png"/><Relationship Id="rId5" Type="http://schemas.openxmlformats.org/officeDocument/2006/relationships/image" Target="../media/image-4-2.png"/><Relationship Id="rId8" Type="http://schemas.openxmlformats.org/officeDocument/2006/relationships/image" Target="../media/image-4-3.jpg"/><Relationship Id="rId11" Type="http://schemas.openxmlformats.org/officeDocument/2006/relationships/image" Target="../media/image-4-4.jpg"/><Relationship Id="rId14" Type="http://schemas.openxmlformats.org/officeDocument/2006/relationships/image" Target="../media/image-4-5.png"/><Relationship Id="rId17" Type="http://schemas.openxmlformats.org/officeDocument/2006/relationships/image" Target="../media/image-4-6.png"/><Relationship Id="rId20" Type="http://schemas.openxmlformats.org/officeDocument/2006/relationships/image" Target="../media/image-4-7.png"/><Relationship Id="rId23" Type="http://schemas.openxmlformats.org/officeDocument/2006/relationships/image" Target="../media/image-4-8.png"/><Relationship Id="rId26" Type="http://schemas.openxmlformats.org/officeDocument/2006/relationships/image" Target="../media/image-4-9.png"/><Relationship Id="rId29" Type="http://schemas.openxmlformats.org/officeDocument/2006/relationships/image" Target="../media/image-4-10.png"/><Relationship Id="rId32" Type="http://schemas.openxmlformats.org/officeDocument/2006/relationships/image" Target="../media/image-4-11.png"/><Relationship Id="rId35" Type="http://schemas.openxmlformats.org/officeDocument/2006/relationships/image" Target="../media/image-4-12.png"/><Relationship Id="rId38" Type="http://schemas.openxmlformats.org/officeDocument/2006/relationships/image" Target="../media/image-4-13.png"/><Relationship Id="rId41" Type="http://schemas.openxmlformats.org/officeDocument/2006/relationships/image" Target="../media/image-4-14.png"/><Relationship Id="rId44" Type="http://schemas.openxmlformats.org/officeDocument/2006/relationships/image" Target="../media/image-4-15.png"/><Relationship Id="rId47" Type="http://schemas.openxmlformats.org/officeDocument/2006/relationships/image" Target="../media/image-4-16.png"/><Relationship Id="rId50" Type="http://schemas.openxmlformats.org/officeDocument/2006/relationships/image" Target="../media/image-4-17.png"/><Relationship Id="rId53" Type="http://schemas.openxmlformats.org/officeDocument/2006/relationships/image" Target="../media/image-4-18.png"/><Relationship Id="rId56" Type="http://schemas.openxmlformats.org/officeDocument/2006/relationships/image" Target="../media/image-4-19.png"/><Relationship Id="rId59" Type="http://schemas.openxmlformats.org/officeDocument/2006/relationships/image" Target="../media/image-4-20.png"/><Relationship Id="rId62" Type="http://schemas.openxmlformats.org/officeDocument/2006/relationships/image" Target="../media/image-4-21.png"/><Relationship Id="rId65" Type="http://schemas.openxmlformats.org/officeDocument/2006/relationships/image" Target="../media/image-4-22.jpg"/><Relationship Id="rId68" Type="http://schemas.openxmlformats.org/officeDocument/2006/relationships/image" Target="../media/image-4-23.png"/><Relationship Id="rId71" Type="http://schemas.openxmlformats.org/officeDocument/2006/relationships/image" Target="../media/image-4-24.png"/><Relationship Id="rId74" Type="http://schemas.openxmlformats.org/officeDocument/2006/relationships/image" Target="../media/image-4-25.png"/><Relationship Id="rId77" Type="http://schemas.openxmlformats.org/officeDocument/2006/relationships/image" Target="../media/image-4-26.jpg"/><Relationship Id="rId80" Type="http://schemas.openxmlformats.org/officeDocument/2006/relationships/image" Target="../media/image-4-27.jpg"/><Relationship Id="rId83" Type="http://schemas.openxmlformats.org/officeDocument/2006/relationships/image" Target="../media/image-4-28.jpg"/><Relationship Id="rId86" Type="http://schemas.openxmlformats.org/officeDocument/2006/relationships/image" Target="../media/image-4-29.jpg"/><Relationship Id="rId89" Type="http://schemas.openxmlformats.org/officeDocument/2006/relationships/image" Target="../media/image-4-30.jpg"/><Relationship Id="rId92" Type="http://schemas.openxmlformats.org/officeDocument/2006/relationships/image" Target="../media/image-4-31.jpg"/><Relationship Id="rId95" Type="http://schemas.openxmlformats.org/officeDocument/2006/relationships/image" Target="../media/image-4-32.png"/><Relationship Id="rId98" Type="http://schemas.openxmlformats.org/officeDocument/2006/relationships/image" Target="../media/image-4-33.jpg"/><Relationship Id="rId101" Type="http://schemas.openxmlformats.org/officeDocument/2006/relationships/image" Target="../media/image-4-34.png"/><Relationship Id="rId104" Type="http://schemas.openxmlformats.org/officeDocument/2006/relationships/image" Target="../media/image-4-35.png"/><Relationship Id="rId107" Type="http://schemas.openxmlformats.org/officeDocument/2006/relationships/image" Target="../media/image-4-36.png"/><Relationship Id="rId110" Type="http://schemas.openxmlformats.org/officeDocument/2006/relationships/image" Target="../media/image-4-37.png"/><Relationship Id="rId113" Type="http://schemas.openxmlformats.org/officeDocument/2006/relationships/image" Target="../media/image-4-38.png"/><Relationship Id="rId116" Type="http://schemas.openxmlformats.org/officeDocument/2006/relationships/image" Target="../media/image-4-39.png"/><Relationship Id="rId119" Type="http://schemas.openxmlformats.org/officeDocument/2006/relationships/image" Target="../media/image-4-40.jpg"/><Relationship Id="rId122" Type="http://schemas.openxmlformats.org/officeDocument/2006/relationships/image" Target="../media/image-4-41.jpg"/><Relationship Id="rId125" Type="http://schemas.openxmlformats.org/officeDocument/2006/relationships/image" Target="../media/image-4-42.png"/><Relationship Id="rId128" Type="http://schemas.openxmlformats.org/officeDocument/2006/relationships/image" Target="../media/image-4-43.png"/><Relationship Id="rId130" Type="http://schemas.openxmlformats.org/officeDocument/2006/relationships/slideLayout" Target="../slideLayouts/slideLayout1.xml"/><Relationship Id="rId13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dlinrt.eu/transparency" TargetMode="External"/><Relationship Id="rId2" Type="http://schemas.openxmlformats.org/officeDocument/2006/relationships/hyperlink" Target="https://dlinrt.eu/transparency" TargetMode="External"/><Relationship Id="rId3" Type="http://schemas.openxmlformats.org/officeDocument/2006/relationships/hyperlink" Target="https://dlinrt.eu/about" TargetMode="External"/><Relationship Id="rId4" Type="http://schemas.openxmlformats.org/officeDocument/2006/relationships/hyperlink" Target="https://dlinrt.eu/support" TargetMode="External"/><Relationship Id="rId6" Type="http://schemas.openxmlformats.org/officeDocument/2006/relationships/hyperlink" Target="https://dlinrt.eu" TargetMode="External"/><Relationship Id="rId7" Type="http://schemas.openxmlformats.org/officeDocument/2006/relationships/hyperlink" Target="https://creativecommons.org/licenses/by/4.0/" TargetMode="External"/><Relationship Id="rId9" Type="http://schemas.openxmlformats.org/officeDocument/2006/relationships/hyperlink" Target="https://www.linkedin.com/company/dlinrt-eu/" TargetMode="External"/><Relationship Id="rId5" Type="http://schemas.openxmlformats.org/officeDocument/2006/relationships/image" Target="../media/image-5-1.png"/><Relationship Id="rId8" Type="http://schemas.openxmlformats.org/officeDocument/2006/relationships/image" Target="../media/image-5-2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dlinrt.org" TargetMode="External"/><Relationship Id="rId2" Type="http://schemas.openxmlformats.org/officeDocument/2006/relationships/hyperlink" Target="https://dlinrt.eu" TargetMode="External"/><Relationship Id="rId3" Type="http://schemas.openxmlformats.org/officeDocument/2006/relationships/hyperlink" Target="https://dlinrt.org" TargetMode="External"/><Relationship Id="rId4" Type="http://schemas.openxmlformats.org/officeDocument/2006/relationships/hyperlink" Target="https://dlinrt.eu/companies" TargetMode="External"/><Relationship Id="rId5" Type="http://schemas.openxmlformats.org/officeDocument/2006/relationships/hyperlink" Target="https://dlinrt.eu/products/company/synaptiq" TargetMode="External"/><Relationship Id="rId6" Type="http://schemas.openxmlformats.org/officeDocument/2006/relationships/hyperlink" Target="https://miart-workshop.github.io/" TargetMode="External"/><Relationship Id="rId7" Type="http://schemas.openxmlformats.org/officeDocument/2006/relationships/hyperlink" Target="https://miart-workshop.github.io/" TargetMode="External"/><Relationship Id="rId8" Type="http://schemas.openxmlformats.org/officeDocument/2006/relationships/hyperlink" Target="https://dlinrt.eu/support" TargetMode="External"/><Relationship Id="rId9" Type="http://schemas.openxmlformats.org/officeDocument/2006/relationships/hyperlink" Target="https://dlinrt.eu/support" TargetMode="External"/><Relationship Id="rId10" Type="http://schemas.openxmlformats.org/officeDocument/2006/relationships/hyperlink" Target="https://dlinrt.eu/dashboard" TargetMode="External"/><Relationship Id="rId11" Type="http://schemas.openxmlformats.org/officeDocument/2006/relationships/hyperlink" Target="https://dlinrt.eu/dashboard" TargetMode="External"/><Relationship Id="rId13" Type="http://schemas.openxmlformats.org/officeDocument/2006/relationships/hyperlink" Target="https://dlinrt.eu" TargetMode="External"/><Relationship Id="rId14" Type="http://schemas.openxmlformats.org/officeDocument/2006/relationships/hyperlink" Target="https://creativecommons.org/licenses/by/4.0/" TargetMode="External"/><Relationship Id="rId16" Type="http://schemas.openxmlformats.org/officeDocument/2006/relationships/hyperlink" Target="https://www.linkedin.com/company/dlinrt-eu/" TargetMode="External"/><Relationship Id="rId12" Type="http://schemas.openxmlformats.org/officeDocument/2006/relationships/image" Target="../media/image-6-1.png"/><Relationship Id="rId15" Type="http://schemas.openxmlformats.org/officeDocument/2006/relationships/image" Target="../media/image-6-2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5090D0"/>
          </a:solidFill>
          <a:ln w="12700">
            <a:solidFill>
              <a:srgbClr val="509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DLinRT.eu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09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round complete · Evidence on 3 axes · Certification opens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update — refreshed catalogue, new evidence system, first certified company, new reviewer, MAIRT @ MICCAI.</a:t>
            </a:r>
            <a:endParaRPr lang="en-US" sz="2200" dirty="0"/>
          </a:p>
        </p:txBody>
      </p:sp>
      <p:pic>
        <p:nvPicPr>
          <p:cNvPr id="6" name="Image 0" descr="public/newsletters/2026-06/_assets/dlinrt-logo.png">
            <a:hlinkClick r:id="rId3" tooltip="dlinrt.eu"/>
      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6519672"/>
            <a:ext cx="885871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0" y="6510528"/>
            <a:ext cx="6705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2026-06-16  ·  </a:t>
            </a:r>
            <a:pPr algn="ctr" indent="0" marL="0">
              <a:buNone/>
            </a:pPr>
            <a:r>
              <a:rPr lang="en-US" sz="11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4.0</a:t>
            </a:r>
            <a:endParaRPr lang="en-US" sz="1100" dirty="0"/>
          </a:p>
        </p:txBody>
      </p:sp>
      <p:pic>
        <p:nvPicPr>
          <p:cNvPr id="8" name="Image 1" descr="public/newsletters/2026-06/_assets/linkedin.png">
            <a:hlinkClick r:id="rId6" tooltip="DLinRT on LinkedIn"/>
      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1688775" y="649224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Cumulative products in the catalogue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declared product release dates · n = 87 products total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11094415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5" name="Image 0" descr="public/newsletters/2026-06/_assets/dlinrt-logo.png">
            <a:hlinkClick r:id="rId4" tooltip="dlinrt.eu"/>
      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74320" y="6519672"/>
            <a:ext cx="885871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0" y="6510528"/>
            <a:ext cx="6705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2026-06-16  ·  </a:t>
            </a:r>
            <a:pPr algn="ctr" indent="0" marL="0">
              <a:buNone/>
            </a:pPr>
            <a:r>
              <a:rPr lang="en-US" sz="1100" u="sng" dirty="0">
                <a:solidFill>
                  <a:srgbClr val="5090D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4.0</a:t>
            </a:r>
            <a:endParaRPr lang="en-US" sz="1100" dirty="0"/>
          </a:p>
        </p:txBody>
      </p:sp>
      <p:pic>
        <p:nvPicPr>
          <p:cNvPr id="7" name="Image 1" descr="public/newsletters/2026-06/_assets/linkedin.png">
            <a:hlinkClick r:id="rId7" tooltip="DLinRT on LinkedIn"/>
      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1688775" y="649224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Products by primary category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87 products · primary category only · click a category to browse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8580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2"/>
          <p:cNvSpPr/>
          <p:nvPr/>
        </p:nvSpPr>
        <p:spPr>
          <a:xfrm>
            <a:off x="7863840" y="1463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5090D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Auto-Contouring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33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863840" y="18470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5090D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Image Enhancement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14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863840" y="223113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5090D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Reconstruction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13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863840" y="26151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5090D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Image Synthesis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8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863840" y="29992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5090D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Treatment Planning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8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63840" y="3383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5090D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Platform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6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863840" y="37673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5090D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Registration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863840" y="415137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5090D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Performance Monitor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863840" y="45354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5090D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Tracking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</a:t>
            </a:r>
            <a:endParaRPr lang="en-US" sz="1500" dirty="0"/>
          </a:p>
        </p:txBody>
      </p:sp>
      <p:pic>
        <p:nvPicPr>
          <p:cNvPr id="14" name="Image 0" descr="public/newsletters/2026-06/_assets/dlinrt-logo.png">
            <a:hlinkClick r:id="rId13" tooltip="dlinrt.eu"/>
      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274320" y="6519672"/>
            <a:ext cx="885871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43200" y="6510528"/>
            <a:ext cx="6705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2026-06-16  ·  </a:t>
            </a:r>
            <a:pPr algn="ctr" indent="0" marL="0">
              <a:buNone/>
            </a:pPr>
            <a:r>
              <a:rPr lang="en-US" sz="1100" u="sng" dirty="0">
                <a:solidFill>
                  <a:srgbClr val="5090D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4.0</a:t>
            </a:r>
            <a:endParaRPr lang="en-US" sz="1100" dirty="0"/>
          </a:p>
        </p:txBody>
      </p:sp>
      <p:pic>
        <p:nvPicPr>
          <p:cNvPr id="16" name="Image 1" descr="public/newsletters/2026-06/_assets/linkedin.png">
            <a:hlinkClick r:id="rId16" tooltip="DLinRT on LinkedIn"/>
      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11688775" y="649224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Companies in the DLinRT.eu catalogue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active companies · click any logo to open its page</a:t>
            </a:r>
            <a:endParaRPr lang="en-US" sz="1300" dirty="0"/>
          </a:p>
        </p:txBody>
      </p:sp>
      <p:pic>
        <p:nvPicPr>
          <p:cNvPr id="4" name="Image 0" descr="public/logos/NeuralRadLogo.png">
            <a:hlinkClick r:id="rId3" tooltip="NeuralRa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310048"/>
            <a:ext cx="1417712" cy="3212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5488" y="16428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NeuralRad</a:t>
            </a:r>
            <a:endParaRPr lang="en-US" sz="900" dirty="0"/>
          </a:p>
        </p:txBody>
      </p:sp>
      <p:pic>
        <p:nvPicPr>
          <p:cNvPr id="6" name="Image 1" descr="public/logos/ai-medical.png">
            <a:hlinkClick r:id="rId6" tooltip="AI Medical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4886" y="1298448"/>
            <a:ext cx="773252" cy="3444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12656" y="16428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Medical</a:t>
            </a:r>
            <a:endParaRPr lang="en-US" sz="900" dirty="0"/>
          </a:p>
        </p:txBody>
      </p:sp>
      <p:pic>
        <p:nvPicPr>
          <p:cNvPr id="8" name="Image 2" descr="public/logos/carina.jpg">
            <a:hlinkClick r:id="rId9" tooltip="Carina AI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6468" y="1298448"/>
            <a:ext cx="344424" cy="34442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749824" y="16428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Carina AI</a:t>
            </a:r>
            <a:endParaRPr lang="en-US" sz="900" dirty="0"/>
          </a:p>
        </p:txBody>
      </p:sp>
      <p:pic>
        <p:nvPicPr>
          <p:cNvPr id="10" name="Image 3" descr="public/logos/coreline.jpg">
            <a:hlinkClick r:id="rId12" tooltip="Coreline Soft Co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89369" y="1298448"/>
            <a:ext cx="612958" cy="34442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386992" y="16428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Coreline Soft Co</a:t>
            </a:r>
            <a:endParaRPr lang="en-US" sz="900" dirty="0"/>
          </a:p>
        </p:txBody>
      </p:sp>
      <p:pic>
        <p:nvPicPr>
          <p:cNvPr id="12" name="Image 4" descr="public/logos/ever-fortune.png">
            <a:hlinkClick r:id="rId15" tooltip="Ever Fortune AI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39617" y="1298448"/>
            <a:ext cx="786796" cy="34442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024160" y="16428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Ever Fortune AI</a:t>
            </a:r>
            <a:endParaRPr lang="en-US" sz="900" dirty="0"/>
          </a:p>
        </p:txBody>
      </p:sp>
      <p:pic>
        <p:nvPicPr>
          <p:cNvPr id="14" name="Image 5" descr="public/logos/huraimaging.png">
            <a:hlinkClick r:id="rId18" tooltip="Hura Imaging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84428" y="1298448"/>
            <a:ext cx="1171510" cy="34442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661327" y="16428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Hura Imaging</a:t>
            </a:r>
            <a:endParaRPr lang="en-US" sz="900" dirty="0"/>
          </a:p>
        </p:txBody>
      </p:sp>
      <p:pic>
        <p:nvPicPr>
          <p:cNvPr id="16" name="Image 6" descr="public/logos/Limbus-ai.png">
            <a:hlinkClick r:id="rId21" tooltip="Limbus AI"/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298495" y="1316852"/>
            <a:ext cx="1417712" cy="307617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0298495" y="16428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Limbus AI</a:t>
            </a:r>
            <a:endParaRPr lang="en-US" sz="900" dirty="0"/>
          </a:p>
        </p:txBody>
      </p:sp>
      <p:pic>
        <p:nvPicPr>
          <p:cNvPr id="18" name="Image 7" descr="public/logos/manteia.png">
            <a:hlinkClick r:id="rId24" tooltip="Manteia"/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56321" y="2136648"/>
            <a:ext cx="656046" cy="344424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475488" y="24810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Manteia</a:t>
            </a:r>
            <a:endParaRPr lang="en-US" sz="900" dirty="0"/>
          </a:p>
        </p:txBody>
      </p:sp>
      <p:pic>
        <p:nvPicPr>
          <p:cNvPr id="20" name="Image 8" descr="public/newsletters/2026-06/_logo-cache/mimsoftware.png">
            <a:hlinkClick r:id="rId27" tooltip="MIM Software"/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568878" y="2136648"/>
            <a:ext cx="505267" cy="344424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2112656" y="24810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MIM Software</a:t>
            </a:r>
            <a:endParaRPr lang="en-US" sz="900" dirty="0"/>
          </a:p>
        </p:txBody>
      </p:sp>
      <p:pic>
        <p:nvPicPr>
          <p:cNvPr id="22" name="Image 9" descr="public/logos/mirada-medical.png">
            <a:hlinkClick r:id="rId30" tooltip="Mirada Medical"/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822820" y="2136648"/>
            <a:ext cx="1271719" cy="344424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3749824" y="24810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Mirada Medical</a:t>
            </a:r>
            <a:endParaRPr lang="en-US" sz="900" dirty="0"/>
          </a:p>
        </p:txBody>
      </p:sp>
      <p:pic>
        <p:nvPicPr>
          <p:cNvPr id="24" name="Image 10" descr="public/logos/mvision-ai.png">
            <a:hlinkClick r:id="rId33" tooltip="MVision AI"/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503780" y="2136648"/>
            <a:ext cx="1184135" cy="344424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5386992" y="24810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MVision AI</a:t>
            </a:r>
            <a:endParaRPr lang="en-US" sz="900" dirty="0"/>
          </a:p>
        </p:txBody>
      </p:sp>
      <p:pic>
        <p:nvPicPr>
          <p:cNvPr id="26" name="Image 11" descr="public/newsletters/2026-06/_logo-cache/radformation.png">
            <a:hlinkClick r:id="rId36" tooltip="RadFormation"/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165284" y="2136648"/>
            <a:ext cx="1135464" cy="344424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7024160" y="24810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RadFormation</a:t>
            </a:r>
            <a:endParaRPr lang="en-US" sz="900" dirty="0"/>
          </a:p>
        </p:txBody>
      </p:sp>
      <p:pic>
        <p:nvPicPr>
          <p:cNvPr id="28" name="Image 12" descr="public/logos/synaptiq.png">
            <a:hlinkClick r:id="rId39" tooltip="Synaptiq"/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931950" y="2136648"/>
            <a:ext cx="876468" cy="344424"/>
          </a:xfrm>
          <a:prstGeom prst="rect">
            <a:avLst/>
          </a:prstGeom>
        </p:spPr>
      </p:pic>
      <p:sp>
        <p:nvSpPr>
          <p:cNvPr id="29" name="Text 14"/>
          <p:cNvSpPr/>
          <p:nvPr/>
        </p:nvSpPr>
        <p:spPr>
          <a:xfrm>
            <a:off x="8661327" y="24810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Synaptiq</a:t>
            </a:r>
            <a:endParaRPr lang="en-US" sz="900" dirty="0"/>
          </a:p>
        </p:txBody>
      </p:sp>
      <p:pic>
        <p:nvPicPr>
          <p:cNvPr id="30" name="Image 13" descr="public/logos/therapanacea.png">
            <a:hlinkClick r:id="rId42" tooltip="Therapanacea"/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576312" y="2136648"/>
            <a:ext cx="862079" cy="344424"/>
          </a:xfrm>
          <a:prstGeom prst="rect">
            <a:avLst/>
          </a:prstGeom>
        </p:spPr>
      </p:pic>
      <p:sp>
        <p:nvSpPr>
          <p:cNvPr id="31" name="Text 15"/>
          <p:cNvSpPr/>
          <p:nvPr/>
        </p:nvSpPr>
        <p:spPr>
          <a:xfrm>
            <a:off x="10298495" y="24810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Therapanacea</a:t>
            </a:r>
            <a:endParaRPr lang="en-US" sz="900" dirty="0"/>
          </a:p>
        </p:txBody>
      </p:sp>
      <p:pic>
        <p:nvPicPr>
          <p:cNvPr id="32" name="Image 14" descr="public/logos/vysioner.png">
            <a:hlinkClick r:id="rId45" tooltip="Vysioner"/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857141" y="2974848"/>
            <a:ext cx="654406" cy="344424"/>
          </a:xfrm>
          <a:prstGeom prst="rect">
            <a:avLst/>
          </a:prstGeom>
        </p:spPr>
      </p:pic>
      <p:sp>
        <p:nvSpPr>
          <p:cNvPr id="33" name="Text 16"/>
          <p:cNvSpPr/>
          <p:nvPr/>
        </p:nvSpPr>
        <p:spPr>
          <a:xfrm>
            <a:off x="475488" y="33192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Vysioner</a:t>
            </a:r>
            <a:endParaRPr lang="en-US" sz="900" dirty="0"/>
          </a:p>
        </p:txBody>
      </p:sp>
      <p:pic>
        <p:nvPicPr>
          <p:cNvPr id="34" name="Image 15" descr="public/logos/wisdom-tech.png">
            <a:hlinkClick r:id="rId48" tooltip="Wisdom Tech"/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669475" y="2974848"/>
            <a:ext cx="304073" cy="344424"/>
          </a:xfrm>
          <a:prstGeom prst="rect">
            <a:avLst/>
          </a:prstGeom>
        </p:spPr>
      </p:pic>
      <p:sp>
        <p:nvSpPr>
          <p:cNvPr id="35" name="Text 17"/>
          <p:cNvSpPr/>
          <p:nvPr/>
        </p:nvSpPr>
        <p:spPr>
          <a:xfrm>
            <a:off x="2112656" y="33192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Wisdom Tech</a:t>
            </a:r>
            <a:endParaRPr lang="en-US" sz="900" dirty="0"/>
          </a:p>
        </p:txBody>
      </p:sp>
      <p:pic>
        <p:nvPicPr>
          <p:cNvPr id="36" name="Image 16" descr="public/logos/oncosoft.png">
            <a:hlinkClick r:id="rId51" tooltip="Oncosoft"/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3749824" y="2975871"/>
            <a:ext cx="1417712" cy="342377"/>
          </a:xfrm>
          <a:prstGeom prst="rect">
            <a:avLst/>
          </a:prstGeom>
        </p:spPr>
      </p:pic>
      <p:sp>
        <p:nvSpPr>
          <p:cNvPr id="37" name="Text 18"/>
          <p:cNvSpPr/>
          <p:nvPr/>
        </p:nvSpPr>
        <p:spPr>
          <a:xfrm>
            <a:off x="3749824" y="33192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Oncosoft</a:t>
            </a:r>
            <a:endParaRPr lang="en-US" sz="900" dirty="0"/>
          </a:p>
        </p:txBody>
      </p:sp>
      <p:pic>
        <p:nvPicPr>
          <p:cNvPr id="38" name="Image 17" descr="public/logos/medcom.png">
            <a:hlinkClick r:id="rId54" tooltip="MedCom"/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5386992" y="3015393"/>
            <a:ext cx="1417712" cy="263333"/>
          </a:xfrm>
          <a:prstGeom prst="rect">
            <a:avLst/>
          </a:prstGeom>
        </p:spPr>
      </p:pic>
      <p:sp>
        <p:nvSpPr>
          <p:cNvPr id="39" name="Text 19"/>
          <p:cNvSpPr/>
          <p:nvPr/>
        </p:nvSpPr>
        <p:spPr>
          <a:xfrm>
            <a:off x="5386992" y="33192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MedCom</a:t>
            </a:r>
            <a:endParaRPr lang="en-US" sz="900" dirty="0"/>
          </a:p>
        </p:txBody>
      </p:sp>
      <p:pic>
        <p:nvPicPr>
          <p:cNvPr id="40" name="Image 18" descr="public/logos/ge_healthcare.png">
            <a:hlinkClick r:id="rId57" tooltip="GE Healthcare"/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7024160" y="2989229"/>
            <a:ext cx="1417712" cy="315662"/>
          </a:xfrm>
          <a:prstGeom prst="rect">
            <a:avLst/>
          </a:prstGeom>
        </p:spPr>
      </p:pic>
      <p:sp>
        <p:nvSpPr>
          <p:cNvPr id="41" name="Text 20"/>
          <p:cNvSpPr/>
          <p:nvPr/>
        </p:nvSpPr>
        <p:spPr>
          <a:xfrm>
            <a:off x="7024160" y="33192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 Healthcare</a:t>
            </a:r>
            <a:endParaRPr lang="en-US" sz="900" dirty="0"/>
          </a:p>
        </p:txBody>
      </p:sp>
      <p:pic>
        <p:nvPicPr>
          <p:cNvPr id="42" name="Image 19" descr="public/logos/philips.png">
            <a:hlinkClick r:id="rId60" tooltip="Philips"/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9064029" y="2974848"/>
            <a:ext cx="612309" cy="344424"/>
          </a:xfrm>
          <a:prstGeom prst="rect">
            <a:avLst/>
          </a:prstGeom>
        </p:spPr>
      </p:pic>
      <p:sp>
        <p:nvSpPr>
          <p:cNvPr id="43" name="Text 21"/>
          <p:cNvSpPr/>
          <p:nvPr/>
        </p:nvSpPr>
        <p:spPr>
          <a:xfrm>
            <a:off x="8661327" y="33192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Philips</a:t>
            </a:r>
            <a:endParaRPr lang="en-US" sz="900" dirty="0"/>
          </a:p>
        </p:txBody>
      </p:sp>
      <p:pic>
        <p:nvPicPr>
          <p:cNvPr id="44" name="Image 20" descr="public/logos/siemens.png">
            <a:hlinkClick r:id="rId63" tooltip="Siemens Healthineers"/>
      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0315428" y="2974848"/>
            <a:ext cx="1383846" cy="344424"/>
          </a:xfrm>
          <a:prstGeom prst="rect">
            <a:avLst/>
          </a:prstGeom>
        </p:spPr>
      </p:pic>
      <p:sp>
        <p:nvSpPr>
          <p:cNvPr id="45" name="Text 22"/>
          <p:cNvSpPr/>
          <p:nvPr/>
        </p:nvSpPr>
        <p:spPr>
          <a:xfrm>
            <a:off x="10298495" y="33192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Siemens Healthineers</a:t>
            </a:r>
            <a:endParaRPr lang="en-US" sz="900" dirty="0"/>
          </a:p>
        </p:txBody>
      </p:sp>
      <p:pic>
        <p:nvPicPr>
          <p:cNvPr id="46" name="Image 21" descr="public/logos/canon.jpg">
            <a:hlinkClick r:id="rId66" tooltip="Canon Medical Systems"/>
      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012132" y="3813048"/>
            <a:ext cx="344424" cy="344424"/>
          </a:xfrm>
          <a:prstGeom prst="rect">
            <a:avLst/>
          </a:prstGeom>
        </p:spPr>
      </p:pic>
      <p:sp>
        <p:nvSpPr>
          <p:cNvPr id="47" name="Text 23"/>
          <p:cNvSpPr/>
          <p:nvPr/>
        </p:nvSpPr>
        <p:spPr>
          <a:xfrm>
            <a:off x="475488" y="41574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Canon Medical Systems</a:t>
            </a:r>
            <a:endParaRPr lang="en-US" sz="900" dirty="0"/>
          </a:p>
        </p:txBody>
      </p:sp>
      <p:pic>
        <p:nvPicPr>
          <p:cNvPr id="48" name="Image 22" descr="public/logos/unitedimaging.png">
            <a:hlinkClick r:id="rId69" tooltip="United Imaging"/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2112656" y="3817292"/>
            <a:ext cx="1417712" cy="335936"/>
          </a:xfrm>
          <a:prstGeom prst="rect">
            <a:avLst/>
          </a:prstGeom>
        </p:spPr>
      </p:pic>
      <p:sp>
        <p:nvSpPr>
          <p:cNvPr id="49" name="Text 24"/>
          <p:cNvSpPr/>
          <p:nvPr/>
        </p:nvSpPr>
        <p:spPr>
          <a:xfrm>
            <a:off x="2112656" y="41574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United Imaging</a:t>
            </a:r>
            <a:endParaRPr lang="en-US" sz="900" dirty="0"/>
          </a:p>
        </p:txBody>
      </p:sp>
      <p:pic>
        <p:nvPicPr>
          <p:cNvPr id="50" name="Image 23" descr="public/newsletters/2026-06/_logo-cache/Taiwan_MedImag.png">
            <a:hlinkClick r:id="rId72" tooltip="Taiwan Medical Imaging Co."/>
      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3749824" y="3836400"/>
            <a:ext cx="1417712" cy="297719"/>
          </a:xfrm>
          <a:prstGeom prst="rect">
            <a:avLst/>
          </a:prstGeom>
        </p:spPr>
      </p:pic>
      <p:sp>
        <p:nvSpPr>
          <p:cNvPr id="51" name="Text 25"/>
          <p:cNvSpPr/>
          <p:nvPr/>
        </p:nvSpPr>
        <p:spPr>
          <a:xfrm>
            <a:off x="3749824" y="41574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Taiwan Medical Imaging Co.</a:t>
            </a:r>
            <a:endParaRPr lang="en-US" sz="900" dirty="0"/>
          </a:p>
        </p:txBody>
      </p:sp>
      <p:pic>
        <p:nvPicPr>
          <p:cNvPr id="52" name="Image 24" descr="public/logos/algomedica.png">
            <a:hlinkClick r:id="rId75" tooltip="AlgoMedica"/>
      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5386992" y="3839487"/>
            <a:ext cx="1417712" cy="291546"/>
          </a:xfrm>
          <a:prstGeom prst="rect">
            <a:avLst/>
          </a:prstGeom>
        </p:spPr>
      </p:pic>
      <p:sp>
        <p:nvSpPr>
          <p:cNvPr id="53" name="Text 26"/>
          <p:cNvSpPr/>
          <p:nvPr/>
        </p:nvSpPr>
        <p:spPr>
          <a:xfrm>
            <a:off x="5386992" y="41574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AlgoMedica</a:t>
            </a:r>
            <a:endParaRPr lang="en-US" sz="900" dirty="0"/>
          </a:p>
        </p:txBody>
      </p:sp>
      <p:pic>
        <p:nvPicPr>
          <p:cNvPr id="54" name="Image 25" descr="public/logos/spectronic-medical.jpg">
            <a:hlinkClick r:id="rId78" tooltip="Spectronic Medical"/>
          </p:cNvPr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7087220" y="3813048"/>
            <a:ext cx="1291590" cy="344424"/>
          </a:xfrm>
          <a:prstGeom prst="rect">
            <a:avLst/>
          </a:prstGeom>
        </p:spPr>
      </p:pic>
      <p:sp>
        <p:nvSpPr>
          <p:cNvPr id="55" name="Text 27"/>
          <p:cNvSpPr/>
          <p:nvPr/>
        </p:nvSpPr>
        <p:spPr>
          <a:xfrm>
            <a:off x="7024160" y="41574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Spectronic Medical</a:t>
            </a:r>
            <a:endParaRPr lang="en-US" sz="900" dirty="0"/>
          </a:p>
        </p:txBody>
      </p:sp>
      <p:pic>
        <p:nvPicPr>
          <p:cNvPr id="56" name="Image 26" descr="public/logos/raystation.jpg">
            <a:hlinkClick r:id="rId81" tooltip="RaySearch Laboratories"/>
          </p:cNvPr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8661327" y="3813048"/>
            <a:ext cx="1417712" cy="344424"/>
          </a:xfrm>
          <a:prstGeom prst="rect">
            <a:avLst/>
          </a:prstGeom>
        </p:spPr>
      </p:pic>
      <p:sp>
        <p:nvSpPr>
          <p:cNvPr id="57" name="Text 28"/>
          <p:cNvSpPr/>
          <p:nvPr/>
        </p:nvSpPr>
        <p:spPr>
          <a:xfrm>
            <a:off x="8661327" y="41574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RaySearch Laboratories</a:t>
            </a:r>
            <a:endParaRPr lang="en-US" sz="900" dirty="0"/>
          </a:p>
        </p:txBody>
      </p:sp>
      <p:pic>
        <p:nvPicPr>
          <p:cNvPr id="58" name="Image 27" descr="public/logos/airs.jpg">
            <a:hlinkClick r:id="rId84" tooltip="AIRS Medical"/>
      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10520469" y="3813048"/>
            <a:ext cx="973764" cy="344424"/>
          </a:xfrm>
          <a:prstGeom prst="rect">
            <a:avLst/>
          </a:prstGeom>
        </p:spPr>
      </p:pic>
      <p:sp>
        <p:nvSpPr>
          <p:cNvPr id="59" name="Text 29"/>
          <p:cNvSpPr/>
          <p:nvPr/>
        </p:nvSpPr>
        <p:spPr>
          <a:xfrm>
            <a:off x="10298495" y="41574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AIRS Medical</a:t>
            </a:r>
            <a:endParaRPr lang="en-US" sz="900" dirty="0"/>
          </a:p>
        </p:txBody>
      </p:sp>
      <p:pic>
        <p:nvPicPr>
          <p:cNvPr id="60" name="Image 28" descr="public/logos/claripi.jpg">
            <a:hlinkClick r:id="rId87" tooltip="ClariPi"/>
          </p:cNvPr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753814" y="4651248"/>
            <a:ext cx="861060" cy="344424"/>
          </a:xfrm>
          <a:prstGeom prst="rect">
            <a:avLst/>
          </a:prstGeom>
        </p:spPr>
      </p:pic>
      <p:sp>
        <p:nvSpPr>
          <p:cNvPr id="61" name="Text 30"/>
          <p:cNvSpPr/>
          <p:nvPr/>
        </p:nvSpPr>
        <p:spPr>
          <a:xfrm>
            <a:off x="475488" y="49956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ClariPi</a:t>
            </a:r>
            <a:endParaRPr lang="en-US" sz="900" dirty="0"/>
          </a:p>
        </p:txBody>
      </p:sp>
      <p:pic>
        <p:nvPicPr>
          <p:cNvPr id="62" name="Image 29" descr="public/logos/SubtleMedical.jpg">
            <a:hlinkClick r:id="rId90" tooltip="Subtle Medical"/>
          </p:cNvPr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2494350" y="4651248"/>
            <a:ext cx="654323" cy="344424"/>
          </a:xfrm>
          <a:prstGeom prst="rect">
            <a:avLst/>
          </a:prstGeom>
        </p:spPr>
      </p:pic>
      <p:sp>
        <p:nvSpPr>
          <p:cNvPr id="63" name="Text 31"/>
          <p:cNvSpPr/>
          <p:nvPr/>
        </p:nvSpPr>
        <p:spPr>
          <a:xfrm>
            <a:off x="2112656" y="49956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Subtle Medical</a:t>
            </a:r>
            <a:endParaRPr lang="en-US" sz="900" dirty="0"/>
          </a:p>
        </p:txBody>
      </p:sp>
      <p:pic>
        <p:nvPicPr>
          <p:cNvPr id="64" name="Image 30" descr="public/logos/ptw.jpg">
            <a:hlinkClick r:id="rId93" tooltip="PTW"/>
          </p:cNvPr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3902559" y="4651248"/>
            <a:ext cx="1112241" cy="344424"/>
          </a:xfrm>
          <a:prstGeom prst="rect">
            <a:avLst/>
          </a:prstGeom>
        </p:spPr>
      </p:pic>
      <p:sp>
        <p:nvSpPr>
          <p:cNvPr id="65" name="Text 32"/>
          <p:cNvSpPr/>
          <p:nvPr/>
        </p:nvSpPr>
        <p:spPr>
          <a:xfrm>
            <a:off x="3749824" y="49956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PTW</a:t>
            </a:r>
            <a:endParaRPr lang="en-US" sz="900" dirty="0"/>
          </a:p>
        </p:txBody>
      </p:sp>
      <p:pic>
        <p:nvPicPr>
          <p:cNvPr id="66" name="Image 31" descr="public/logos/pymedix.png">
            <a:hlinkClick r:id="rId96" tooltip="PyMedix"/>
          </p:cNvPr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5618757" y="4651248"/>
            <a:ext cx="954182" cy="344424"/>
          </a:xfrm>
          <a:prstGeom prst="rect">
            <a:avLst/>
          </a:prstGeom>
        </p:spPr>
      </p:pic>
      <p:sp>
        <p:nvSpPr>
          <p:cNvPr id="67" name="Text 33"/>
          <p:cNvSpPr/>
          <p:nvPr/>
        </p:nvSpPr>
        <p:spPr>
          <a:xfrm>
            <a:off x="5386992" y="49956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PyMedix</a:t>
            </a:r>
            <a:endParaRPr lang="en-US" sz="900" dirty="0"/>
          </a:p>
        </p:txBody>
      </p:sp>
      <p:pic>
        <p:nvPicPr>
          <p:cNvPr id="68" name="Image 32" descr="public/logos/medlever.jpg">
            <a:hlinkClick r:id="rId99" tooltip="MedLever, Inc."/>
          </p:cNvPr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7177493" y="4651248"/>
            <a:ext cx="1111045" cy="344424"/>
          </a:xfrm>
          <a:prstGeom prst="rect">
            <a:avLst/>
          </a:prstGeom>
        </p:spPr>
      </p:pic>
      <p:sp>
        <p:nvSpPr>
          <p:cNvPr id="69" name="Text 34"/>
          <p:cNvSpPr/>
          <p:nvPr/>
        </p:nvSpPr>
        <p:spPr>
          <a:xfrm>
            <a:off x="7024160" y="49956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MedLever, Inc.</a:t>
            </a:r>
            <a:endParaRPr lang="en-US" sz="900" dirty="0"/>
          </a:p>
        </p:txBody>
      </p:sp>
      <p:pic>
        <p:nvPicPr>
          <p:cNvPr id="70" name="Image 33" descr="public/logos/medmind.png">
            <a:hlinkClick r:id="rId102" tooltip="MedMind Technology Co., Ltd."/>
          </p:cNvPr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8820216" y="4651248"/>
            <a:ext cx="1099935" cy="344424"/>
          </a:xfrm>
          <a:prstGeom prst="rect">
            <a:avLst/>
          </a:prstGeom>
        </p:spPr>
      </p:pic>
      <p:sp>
        <p:nvSpPr>
          <p:cNvPr id="71" name="Text 35"/>
          <p:cNvSpPr/>
          <p:nvPr/>
        </p:nvSpPr>
        <p:spPr>
          <a:xfrm>
            <a:off x="8661327" y="49956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MedMind Technology Co., Ltd.</a:t>
            </a:r>
            <a:endParaRPr lang="en-US" sz="900" dirty="0"/>
          </a:p>
        </p:txBody>
      </p:sp>
      <p:pic>
        <p:nvPicPr>
          <p:cNvPr id="72" name="Image 34" descr="public/logos/quanta-computer.png">
            <a:hlinkClick r:id="rId105" tooltip="Quanta Computer Inc."/>
          </p:cNvPr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10310493" y="4651248"/>
            <a:ext cx="1393716" cy="344424"/>
          </a:xfrm>
          <a:prstGeom prst="rect">
            <a:avLst/>
          </a:prstGeom>
        </p:spPr>
      </p:pic>
      <p:sp>
        <p:nvSpPr>
          <p:cNvPr id="73" name="Text 36"/>
          <p:cNvSpPr/>
          <p:nvPr/>
        </p:nvSpPr>
        <p:spPr>
          <a:xfrm>
            <a:off x="10298495" y="49956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Quanta Computer Inc.</a:t>
            </a:r>
            <a:endParaRPr lang="en-US" sz="900" dirty="0"/>
          </a:p>
        </p:txBody>
      </p:sp>
      <p:pic>
        <p:nvPicPr>
          <p:cNvPr id="74" name="Image 35" descr="public/logos/Elekta.png">
            <a:hlinkClick r:id="rId108" tooltip="Elekta"/>
          </p:cNvPr>
          <p:cNvPicPr>
            <a:picLocks noChangeAspect="1"/>
          </p:cNvPicPr>
          <p:nvPr/>
        </p:nvPicPr>
        <p:blipFill>
          <a:blip r:embed="rId107"/>
          <a:stretch>
            <a:fillRect/>
          </a:stretch>
        </p:blipFill>
        <p:spPr>
          <a:xfrm>
            <a:off x="636007" y="5489448"/>
            <a:ext cx="1096673" cy="344424"/>
          </a:xfrm>
          <a:prstGeom prst="rect">
            <a:avLst/>
          </a:prstGeom>
        </p:spPr>
      </p:pic>
      <p:sp>
        <p:nvSpPr>
          <p:cNvPr id="75" name="Text 37"/>
          <p:cNvSpPr/>
          <p:nvPr/>
        </p:nvSpPr>
        <p:spPr>
          <a:xfrm>
            <a:off x="475488" y="58338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Elekta</a:t>
            </a:r>
            <a:endParaRPr lang="en-US" sz="900" dirty="0"/>
          </a:p>
        </p:txBody>
      </p:sp>
      <p:pic>
        <p:nvPicPr>
          <p:cNvPr id="76" name="Image 36" descr="public/logos/accuray.png">
            <a:hlinkClick r:id="rId111" tooltip="Accuray®"/>
          </p:cNvPr>
          <p:cNvPicPr>
            <a:picLocks noChangeAspect="1"/>
          </p:cNvPicPr>
          <p:nvPr/>
        </p:nvPicPr>
        <p:blipFill>
          <a:blip r:embed="rId110"/>
          <a:stretch>
            <a:fillRect/>
          </a:stretch>
        </p:blipFill>
        <p:spPr>
          <a:xfrm>
            <a:off x="2112656" y="5525932"/>
            <a:ext cx="1417712" cy="271456"/>
          </a:xfrm>
          <a:prstGeom prst="rect">
            <a:avLst/>
          </a:prstGeom>
        </p:spPr>
      </p:pic>
      <p:sp>
        <p:nvSpPr>
          <p:cNvPr id="77" name="Text 38"/>
          <p:cNvSpPr/>
          <p:nvPr/>
        </p:nvSpPr>
        <p:spPr>
          <a:xfrm>
            <a:off x="2112656" y="58338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Accuray®</a:t>
            </a:r>
            <a:endParaRPr lang="en-US" sz="900" dirty="0"/>
          </a:p>
        </p:txBody>
      </p:sp>
      <p:pic>
        <p:nvPicPr>
          <p:cNvPr id="78" name="Image 37" descr="public/logos/SunNuclear.png">
            <a:hlinkClick r:id="rId114" tooltip="Sun Nuclear (Mirion Medical)"/>
          </p:cNvPr>
          <p:cNvPicPr>
            <a:picLocks noChangeAspect="1"/>
          </p:cNvPicPr>
          <p:nvPr/>
        </p:nvPicPr>
        <p:blipFill>
          <a:blip r:embed="rId113"/>
          <a:stretch>
            <a:fillRect/>
          </a:stretch>
        </p:blipFill>
        <p:spPr>
          <a:xfrm>
            <a:off x="3749824" y="5539805"/>
            <a:ext cx="1417712" cy="243710"/>
          </a:xfrm>
          <a:prstGeom prst="rect">
            <a:avLst/>
          </a:prstGeom>
        </p:spPr>
      </p:pic>
      <p:sp>
        <p:nvSpPr>
          <p:cNvPr id="79" name="Text 39"/>
          <p:cNvSpPr/>
          <p:nvPr/>
        </p:nvSpPr>
        <p:spPr>
          <a:xfrm>
            <a:off x="3749824" y="58338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Sun Nuclear (Mirion Medical)</a:t>
            </a:r>
            <a:endParaRPr lang="en-US" sz="900" dirty="0"/>
          </a:p>
        </p:txBody>
      </p:sp>
      <p:pic>
        <p:nvPicPr>
          <p:cNvPr id="80" name="Image 38" descr="public/newsletters/2026-06/_logo-cache/md_anderson.png">
            <a:hlinkClick r:id="rId117" tooltip="MD Anderson Cancer Center"/>
          </p:cNvPr>
          <p:cNvPicPr>
            <a:picLocks noChangeAspect="1"/>
          </p:cNvPicPr>
          <p:nvPr/>
        </p:nvPicPr>
        <p:blipFill>
          <a:blip r:embed="rId116"/>
          <a:stretch>
            <a:fillRect/>
          </a:stretch>
        </p:blipFill>
        <p:spPr>
          <a:xfrm>
            <a:off x="5758177" y="5489448"/>
            <a:ext cx="675341" cy="344424"/>
          </a:xfrm>
          <a:prstGeom prst="rect">
            <a:avLst/>
          </a:prstGeom>
        </p:spPr>
      </p:pic>
      <p:sp>
        <p:nvSpPr>
          <p:cNvPr id="81" name="Text 40"/>
          <p:cNvSpPr/>
          <p:nvPr/>
        </p:nvSpPr>
        <p:spPr>
          <a:xfrm>
            <a:off x="5386992" y="58338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MD Anderson Cancer Center</a:t>
            </a:r>
            <a:endParaRPr lang="en-US" sz="900" dirty="0"/>
          </a:p>
        </p:txBody>
      </p:sp>
      <p:pic>
        <p:nvPicPr>
          <p:cNvPr id="82" name="Image 39" descr="public/logos/Brainlab.jpg">
            <a:hlinkClick r:id="rId120" tooltip="Brainlab"/>
          </p:cNvPr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7414423" y="5489448"/>
            <a:ext cx="637184" cy="344424"/>
          </a:xfrm>
          <a:prstGeom prst="rect">
            <a:avLst/>
          </a:prstGeom>
        </p:spPr>
      </p:pic>
      <p:sp>
        <p:nvSpPr>
          <p:cNvPr id="83" name="Text 41"/>
          <p:cNvSpPr/>
          <p:nvPr/>
        </p:nvSpPr>
        <p:spPr>
          <a:xfrm>
            <a:off x="7024160" y="58338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Brainlab</a:t>
            </a:r>
            <a:endParaRPr lang="en-US" sz="900" dirty="0"/>
          </a:p>
        </p:txBody>
      </p:sp>
      <p:pic>
        <p:nvPicPr>
          <p:cNvPr id="84" name="Image 40" descr="public/logos/varian.jpg">
            <a:hlinkClick r:id="rId123" tooltip="Varian (Siemens Healthineers)"/>
          </p:cNvPr>
          <p:cNvPicPr>
            <a:picLocks noChangeAspect="1"/>
          </p:cNvPicPr>
          <p:nvPr/>
        </p:nvPicPr>
        <p:blipFill>
          <a:blip r:embed="rId122"/>
          <a:stretch>
            <a:fillRect/>
          </a:stretch>
        </p:blipFill>
        <p:spPr>
          <a:xfrm>
            <a:off x="8681335" y="5489448"/>
            <a:ext cx="1377696" cy="344424"/>
          </a:xfrm>
          <a:prstGeom prst="rect">
            <a:avLst/>
          </a:prstGeom>
        </p:spPr>
      </p:pic>
      <p:sp>
        <p:nvSpPr>
          <p:cNvPr id="85" name="Text 42"/>
          <p:cNvSpPr/>
          <p:nvPr/>
        </p:nvSpPr>
        <p:spPr>
          <a:xfrm>
            <a:off x="8661327" y="5833872"/>
            <a:ext cx="141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Varian (Siemens Healthineers)</a:t>
            </a:r>
            <a:endParaRPr lang="en-US" sz="900" dirty="0"/>
          </a:p>
        </p:txBody>
      </p:sp>
      <p:pic>
        <p:nvPicPr>
          <p:cNvPr id="86" name="Image 41" descr="public/newsletters/2026-06/_assets/dlinrt-logo.png">
            <a:hlinkClick r:id="rId126" tooltip="dlinrt.eu"/>
          </p:cNvPr>
          <p:cNvPicPr>
            <a:picLocks noChangeAspect="1"/>
          </p:cNvPicPr>
          <p:nvPr/>
        </p:nvPicPr>
        <p:blipFill>
          <a:blip r:embed="rId125"/>
          <a:srcRect l="0" r="0" t="0" b="0"/>
          <a:stretch/>
        </p:blipFill>
        <p:spPr>
          <a:xfrm>
            <a:off x="274320" y="6519672"/>
            <a:ext cx="885871" cy="256032"/>
          </a:xfrm>
          <a:prstGeom prst="rect">
            <a:avLst/>
          </a:prstGeom>
        </p:spPr>
      </p:pic>
      <p:sp>
        <p:nvSpPr>
          <p:cNvPr id="87" name="Text 43"/>
          <p:cNvSpPr/>
          <p:nvPr/>
        </p:nvSpPr>
        <p:spPr>
          <a:xfrm>
            <a:off x="2743200" y="6510528"/>
            <a:ext cx="6705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2026-06-16  ·  </a:t>
            </a:r>
            <a:pPr algn="ctr" indent="0" marL="0">
              <a:buNone/>
            </a:pPr>
            <a:r>
              <a:rPr lang="en-US" sz="1100" u="sng" dirty="0">
                <a:solidFill>
                  <a:srgbClr val="5090D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4.0</a:t>
            </a:r>
            <a:endParaRPr lang="en-US" sz="1100" dirty="0"/>
          </a:p>
        </p:txBody>
      </p:sp>
      <p:pic>
        <p:nvPicPr>
          <p:cNvPr id="88" name="Image 42" descr="public/newsletters/2026-06/_assets/linkedin.png">
            <a:hlinkClick r:id="rId129" tooltip="DLinRT on LinkedIn"/>
          </p:cNvPr>
          <p:cNvPicPr>
            <a:picLocks noChangeAspect="1"/>
          </p:cNvPicPr>
          <p:nvPr/>
        </p:nvPicPr>
        <p:blipFill>
          <a:blip r:embed="rId128"/>
          <a:srcRect l="0" r="0" t="0" b="0"/>
          <a:stretch/>
        </p:blipFill>
        <p:spPr>
          <a:xfrm>
            <a:off x="11688775" y="649224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5090D0"/>
          </a:solidFill>
          <a:ln w="12700">
            <a:solidFill>
              <a:srgbClr val="509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Support, Transparency &amp; People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09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UMC Utrecht backs the platform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the Radiotherapy Medical Physics Traineeship, UMC Utrecht has agreed to cover the running costs of DLinRT.eu — safeguarding the independence and continuity of the initiative. A huge thank you to the Radiotherapy Department for this support.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09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costs, in the open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publish our running costs and keep them up to date at </a:t>
            </a:r>
            <a:pPr indent="0" marL="0">
              <a:buNone/>
            </a:pPr>
            <a:r>
              <a:rPr lang="en-US" sz="1600" b="1" u="sng" dirty="0">
                <a:solidFill>
                  <a:srgbClr val="5090D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dlinrt.eu/transparency</a:t>
            </a:r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09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Szabolcs David · thanks to all 12 reviewers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warm welcome to Szabolcs David, who joins the reviewer team. Huge thanks to all 12 reviewers keeping the catalogue trustworthy — full list on the </a:t>
            </a:r>
            <a:pPr indent="0" marL="0">
              <a:buNone/>
            </a:pPr>
            <a:r>
              <a:rPr lang="en-US" sz="1600" b="1" u="sng" dirty="0">
                <a:solidFill>
                  <a:srgbClr val="5090D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About page</a:t>
            </a:r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507492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509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Errare humanum est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54864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strive for accuracy and, alongside the AI tooling, we still value human revision. If you spot an imprecision or error, please </a:t>
            </a:r>
            <a:pPr indent="0" marL="0">
              <a:buNone/>
            </a:pPr>
            <a:r>
              <a:rPr lang="en-US" sz="1600" b="1" u="sng" dirty="0">
                <a:solidFill>
                  <a:srgbClr val="5090D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reach out</a:t>
            </a:r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 will take action.</a:t>
            </a:r>
            <a:endParaRPr lang="en-US" sz="1600" dirty="0"/>
          </a:p>
        </p:txBody>
      </p:sp>
      <p:pic>
        <p:nvPicPr>
          <p:cNvPr id="12" name="Image 0" descr="public/newsletters/2026-06/_assets/dlinrt-logo.png">
            <a:hlinkClick r:id="rId6" tooltip="dlinrt.eu"/>
      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74320" y="6519672"/>
            <a:ext cx="885871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743200" y="6510528"/>
            <a:ext cx="6705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2026-06-16  ·  </a:t>
            </a:r>
            <a:pPr algn="ctr" indent="0" marL="0">
              <a:buNone/>
            </a:pPr>
            <a:r>
              <a:rPr lang="en-US" sz="1100" u="sng" dirty="0">
                <a:solidFill>
                  <a:srgbClr val="5090D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4.0</a:t>
            </a:r>
            <a:endParaRPr lang="en-US" sz="1100" dirty="0"/>
          </a:p>
        </p:txBody>
      </p:sp>
      <p:pic>
        <p:nvPicPr>
          <p:cNvPr id="14" name="Image 1" descr="public/newsletters/2026-06/_assets/linkedin.png">
            <a:hlinkClick r:id="rId9" tooltip="DLinRT on LinkedIn"/>
      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1688775" y="649224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5090D0"/>
          </a:solidFill>
          <a:ln w="12700">
            <a:solidFill>
              <a:srgbClr val="509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5090D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Save the date · DLinRT workshop, Utrecht · March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115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DLinRT.eu will support the organisation of a two-day international workshop in Utrecht around March 2026. Dates and venue are being finalised — details will follow around September on </a:t>
            </a:r>
            <a:pPr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dlinrt.eu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dlinrt.org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5090D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Certification round opens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109115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Manufacturers can now certify their product listings. </a:t>
            </a:r>
            <a:pPr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Synaptiq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first certified, two CE-marked products. Congratulations.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5090D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MAIRT @ MICCAI · Oct 1, 2026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109115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fully dedicated radiotherapy satellite event at MICCAI, Strasbourg. </a:t>
            </a:r>
            <a:pPr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miart-workshop.github.io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0690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5090D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review round · Nov 1 → Dec 15, 2026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109115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looking for more reviewers — many hands make the workload lighter. </a:t>
            </a:r>
            <a:pPr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 in touch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5090D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3-axis evidence system live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5394960"/>
            <a:ext cx="109115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Evidence Matrix to see how the catalogue distributes across rigor (E0–E3) and impact (I0–I5): </a:t>
            </a:r>
            <a:pPr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dlinrt.eu/dashboard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pic>
        <p:nvPicPr>
          <p:cNvPr id="14" name="Image 0" descr="public/newsletters/2026-06/_assets/dlinrt-logo.png">
            <a:hlinkClick r:id="rId13" tooltip="dlinrt.eu"/>
      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274320" y="6519672"/>
            <a:ext cx="885871" cy="25603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743200" y="6510528"/>
            <a:ext cx="6705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2026-06-16  ·  </a:t>
            </a:r>
            <a:pPr algn="ctr" indent="0" marL="0">
              <a:buNone/>
            </a:pPr>
            <a:r>
              <a:rPr lang="en-US" sz="11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4.0</a:t>
            </a:r>
            <a:endParaRPr lang="en-US" sz="1100" dirty="0"/>
          </a:p>
        </p:txBody>
      </p:sp>
      <p:pic>
        <p:nvPicPr>
          <p:cNvPr id="16" name="Image 1" descr="public/newsletters/2026-06/_assets/linkedin.png">
            <a:hlinkClick r:id="rId16" tooltip="DLinRT on LinkedIn"/>
      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11688775" y="649224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2026-06-16T22:45:02Z</dcterms:created>
  <dcterms:modified xsi:type="dcterms:W3CDTF">2026-06-16T22:45:02Z</dcterms:modified>
</cp:coreProperties>
</file>